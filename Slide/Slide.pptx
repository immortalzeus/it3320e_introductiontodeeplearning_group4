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4"/>
  </p:sldMasterIdLst>
  <p:notesMasterIdLst>
    <p:notesMasterId r:id="rId27"/>
  </p:notesMasterIdLst>
  <p:sldIdLst>
    <p:sldId id="256" r:id="rId5"/>
    <p:sldId id="258" r:id="rId6"/>
    <p:sldId id="259" r:id="rId7"/>
    <p:sldId id="260" r:id="rId8"/>
    <p:sldId id="304" r:id="rId9"/>
    <p:sldId id="305" r:id="rId10"/>
    <p:sldId id="271" r:id="rId11"/>
    <p:sldId id="307" r:id="rId12"/>
    <p:sldId id="306" r:id="rId13"/>
    <p:sldId id="320" r:id="rId14"/>
    <p:sldId id="308" r:id="rId15"/>
    <p:sldId id="309" r:id="rId16"/>
    <p:sldId id="310" r:id="rId17"/>
    <p:sldId id="311" r:id="rId18"/>
    <p:sldId id="312" r:id="rId19"/>
    <p:sldId id="313" r:id="rId20"/>
    <p:sldId id="315" r:id="rId21"/>
    <p:sldId id="316" r:id="rId22"/>
    <p:sldId id="318" r:id="rId23"/>
    <p:sldId id="317" r:id="rId24"/>
    <p:sldId id="321" r:id="rId25"/>
    <p:sldId id="319" r:id="rId26"/>
  </p:sldIdLst>
  <p:sldSz cx="9144000" cy="5143500" type="screen16x9"/>
  <p:notesSz cx="6858000" cy="9144000"/>
  <p:embeddedFontLst>
    <p:embeddedFont>
      <p:font typeface="Alexandria Light" panose="020B0604020202020204" charset="-78"/>
      <p:regular r:id="rId28"/>
      <p:bold r:id="rId29"/>
    </p:embeddedFont>
    <p:embeddedFont>
      <p:font typeface="Alexandria SemiBold" panose="020B0604020202020204" charset="-78"/>
      <p:regular r:id="rId30"/>
      <p:bold r:id="rId31"/>
    </p:embeddedFont>
    <p:embeddedFont>
      <p:font typeface="Commissioner" panose="020B060402020202020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Cover" id="{FDD3486E-F773-4577-A63A-BB6211199F1D}">
          <p14:sldIdLst>
            <p14:sldId id="256"/>
            <p14:sldId id="258"/>
          </p14:sldIdLst>
        </p14:section>
        <p14:section name="Intro" id="{BE6C9F00-D3BB-43AD-8F2D-2E80040959D8}">
          <p14:sldIdLst>
            <p14:sldId id="259"/>
            <p14:sldId id="260"/>
            <p14:sldId id="304"/>
          </p14:sldIdLst>
        </p14:section>
        <p14:section name="Methods" id="{5DD8B341-E386-48E9-91FE-C4DDA7E7F4D3}">
          <p14:sldIdLst>
            <p14:sldId id="305"/>
            <p14:sldId id="271"/>
            <p14:sldId id="307"/>
            <p14:sldId id="306"/>
            <p14:sldId id="320"/>
            <p14:sldId id="308"/>
            <p14:sldId id="309"/>
            <p14:sldId id="310"/>
            <p14:sldId id="311"/>
          </p14:sldIdLst>
        </p14:section>
        <p14:section name="Results" id="{1C9FF66E-1D42-422B-B536-3C0310513991}">
          <p14:sldIdLst>
            <p14:sldId id="312"/>
            <p14:sldId id="313"/>
            <p14:sldId id="315"/>
            <p14:sldId id="316"/>
          </p14:sldIdLst>
        </p14:section>
        <p14:section name="Conclusion" id="{3D174855-454B-4C41-BEED-6C701DD6DC74}">
          <p14:sldIdLst>
            <p14:sldId id="318"/>
            <p14:sldId id="317"/>
            <p14:sldId id="321"/>
            <p14:sldId id="3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457EFF-335C-2218-3B61-92356B846BA2}" v="66" dt="2025-12-26T08:32:02.706"/>
    <p1510:client id="{FCDE74D1-8D7A-439A-8E0A-840D957AD59B}" v="460" dt="2025-12-26T08:19:04.449"/>
  </p1510:revLst>
</p1510:revInfo>
</file>

<file path=ppt/tableStyles.xml><?xml version="1.0" encoding="utf-8"?>
<a:tblStyleLst xmlns:a="http://schemas.openxmlformats.org/drawingml/2006/main" def="{18501F81-7536-4944-B199-029B205A9597}">
  <a:tblStyle styleId="{18501F81-7536-4944-B199-029B205A95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7aa79912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7aa79912c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576c31a909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576c31a909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576c31a909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576c31a909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576c31a909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576c31a909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40AA252B-80C4-B8A8-458A-9CE87F97D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576c31a909_0_90:notes">
            <a:extLst>
              <a:ext uri="{FF2B5EF4-FFF2-40B4-BE49-F238E27FC236}">
                <a16:creationId xmlns:a16="http://schemas.microsoft.com/office/drawing/2014/main" id="{43B0206F-A193-52C0-64B0-65DD538597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576c31a909_0_90:notes">
            <a:extLst>
              <a:ext uri="{FF2B5EF4-FFF2-40B4-BE49-F238E27FC236}">
                <a16:creationId xmlns:a16="http://schemas.microsoft.com/office/drawing/2014/main" id="{EE0011E9-F143-08A0-1F4B-2FE8CCF2C7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3251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580aaa82dd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580aaa82dd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>
          <a:extLst>
            <a:ext uri="{FF2B5EF4-FFF2-40B4-BE49-F238E27FC236}">
              <a16:creationId xmlns:a16="http://schemas.microsoft.com/office/drawing/2014/main" id="{1617A2AE-1EC9-4CA1-9EC3-401C23378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580aaa82dd_1_37:notes">
            <a:extLst>
              <a:ext uri="{FF2B5EF4-FFF2-40B4-BE49-F238E27FC236}">
                <a16:creationId xmlns:a16="http://schemas.microsoft.com/office/drawing/2014/main" id="{0E91B18E-A0AC-D6A5-A4D2-95FAAFBE6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580aaa82dd_1_37:notes">
            <a:extLst>
              <a:ext uri="{FF2B5EF4-FFF2-40B4-BE49-F238E27FC236}">
                <a16:creationId xmlns:a16="http://schemas.microsoft.com/office/drawing/2014/main" id="{1230E861-B338-F300-3500-C17F35F7B6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3985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>
          <a:extLst>
            <a:ext uri="{FF2B5EF4-FFF2-40B4-BE49-F238E27FC236}">
              <a16:creationId xmlns:a16="http://schemas.microsoft.com/office/drawing/2014/main" id="{E4B3253A-B1D3-6661-61AB-5F1E82A4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580aaa82dd_1_37:notes">
            <a:extLst>
              <a:ext uri="{FF2B5EF4-FFF2-40B4-BE49-F238E27FC236}">
                <a16:creationId xmlns:a16="http://schemas.microsoft.com/office/drawing/2014/main" id="{5C365215-DC90-EE97-E524-A0334AAEE0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580aaa82dd_1_37:notes">
            <a:extLst>
              <a:ext uri="{FF2B5EF4-FFF2-40B4-BE49-F238E27FC236}">
                <a16:creationId xmlns:a16="http://schemas.microsoft.com/office/drawing/2014/main" id="{5E78372C-E2E8-0E77-7D0C-E8FD82336B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7793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>
          <a:extLst>
            <a:ext uri="{FF2B5EF4-FFF2-40B4-BE49-F238E27FC236}">
              <a16:creationId xmlns:a16="http://schemas.microsoft.com/office/drawing/2014/main" id="{0F14E35E-FBE9-4682-2EAE-77C3E0E8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580aaa82dd_1_37:notes">
            <a:extLst>
              <a:ext uri="{FF2B5EF4-FFF2-40B4-BE49-F238E27FC236}">
                <a16:creationId xmlns:a16="http://schemas.microsoft.com/office/drawing/2014/main" id="{15390D8E-6217-7644-7C15-52B75FEDA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580aaa82dd_1_37:notes">
            <a:extLst>
              <a:ext uri="{FF2B5EF4-FFF2-40B4-BE49-F238E27FC236}">
                <a16:creationId xmlns:a16="http://schemas.microsoft.com/office/drawing/2014/main" id="{11B9675B-CF8C-C06B-6BC1-BEB6D29D70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757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>
          <a:extLst>
            <a:ext uri="{FF2B5EF4-FFF2-40B4-BE49-F238E27FC236}">
              <a16:creationId xmlns:a16="http://schemas.microsoft.com/office/drawing/2014/main" id="{8CCD1592-0C67-17EB-4E9B-5DFD0E5AB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580aaa82dd_1_37:notes">
            <a:extLst>
              <a:ext uri="{FF2B5EF4-FFF2-40B4-BE49-F238E27FC236}">
                <a16:creationId xmlns:a16="http://schemas.microsoft.com/office/drawing/2014/main" id="{8F3986FA-E626-3DAD-236E-A1F610F42C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580aaa82dd_1_37:notes">
            <a:extLst>
              <a:ext uri="{FF2B5EF4-FFF2-40B4-BE49-F238E27FC236}">
                <a16:creationId xmlns:a16="http://schemas.microsoft.com/office/drawing/2014/main" id="{4628B8C8-EF11-851A-19F3-04F44CBC2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9205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>
          <a:extLst>
            <a:ext uri="{FF2B5EF4-FFF2-40B4-BE49-F238E27FC236}">
              <a16:creationId xmlns:a16="http://schemas.microsoft.com/office/drawing/2014/main" id="{F2C607EA-47A7-24B2-839D-8141F8D1D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580aaa82dd_1_37:notes">
            <a:extLst>
              <a:ext uri="{FF2B5EF4-FFF2-40B4-BE49-F238E27FC236}">
                <a16:creationId xmlns:a16="http://schemas.microsoft.com/office/drawing/2014/main" id="{D58D0344-3F2A-578B-FAFC-265C04656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580aaa82dd_1_37:notes">
            <a:extLst>
              <a:ext uri="{FF2B5EF4-FFF2-40B4-BE49-F238E27FC236}">
                <a16:creationId xmlns:a16="http://schemas.microsoft.com/office/drawing/2014/main" id="{BB9ED35A-1894-1E36-919B-4682AA3D4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7533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>
          <a:extLst>
            <a:ext uri="{FF2B5EF4-FFF2-40B4-BE49-F238E27FC236}">
              <a16:creationId xmlns:a16="http://schemas.microsoft.com/office/drawing/2014/main" id="{1508EB8C-ECD0-FC57-543C-AB51AECE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580aaa82dd_1_37:notes">
            <a:extLst>
              <a:ext uri="{FF2B5EF4-FFF2-40B4-BE49-F238E27FC236}">
                <a16:creationId xmlns:a16="http://schemas.microsoft.com/office/drawing/2014/main" id="{374B5BEB-29EE-AA85-27C6-FF6EBFBE99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580aaa82dd_1_37:notes">
            <a:extLst>
              <a:ext uri="{FF2B5EF4-FFF2-40B4-BE49-F238E27FC236}">
                <a16:creationId xmlns:a16="http://schemas.microsoft.com/office/drawing/2014/main" id="{3A0156AC-F793-EAA8-7047-0949D9A378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3862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>
          <a:extLst>
            <a:ext uri="{FF2B5EF4-FFF2-40B4-BE49-F238E27FC236}">
              <a16:creationId xmlns:a16="http://schemas.microsoft.com/office/drawing/2014/main" id="{22863320-2FDE-7EC8-575E-8F7045907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580aaa82dd_1_37:notes">
            <a:extLst>
              <a:ext uri="{FF2B5EF4-FFF2-40B4-BE49-F238E27FC236}">
                <a16:creationId xmlns:a16="http://schemas.microsoft.com/office/drawing/2014/main" id="{CEFD0B8F-7C8F-FDBC-720F-169414277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580aaa82dd_1_37:notes">
            <a:extLst>
              <a:ext uri="{FF2B5EF4-FFF2-40B4-BE49-F238E27FC236}">
                <a16:creationId xmlns:a16="http://schemas.microsoft.com/office/drawing/2014/main" id="{B98DB9D5-5951-F3C6-C104-67B82E5B61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171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DFEC02A3-8611-D39E-9C60-3EFD48C1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576c31a909_0_90:notes">
            <a:extLst>
              <a:ext uri="{FF2B5EF4-FFF2-40B4-BE49-F238E27FC236}">
                <a16:creationId xmlns:a16="http://schemas.microsoft.com/office/drawing/2014/main" id="{92CFCD2D-0182-DB8E-C4FA-007288069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576c31a909_0_90:notes">
            <a:extLst>
              <a:ext uri="{FF2B5EF4-FFF2-40B4-BE49-F238E27FC236}">
                <a16:creationId xmlns:a16="http://schemas.microsoft.com/office/drawing/2014/main" id="{DAB09086-230D-7E86-CC12-9AB4D45975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9669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7E0D004B-6DB1-04CD-90FD-3D070451C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576c31a909_0_90:notes">
            <a:extLst>
              <a:ext uri="{FF2B5EF4-FFF2-40B4-BE49-F238E27FC236}">
                <a16:creationId xmlns:a16="http://schemas.microsoft.com/office/drawing/2014/main" id="{BD92921A-ADC6-B059-F3BD-D723AF6496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576c31a909_0_90:notes">
            <a:extLst>
              <a:ext uri="{FF2B5EF4-FFF2-40B4-BE49-F238E27FC236}">
                <a16:creationId xmlns:a16="http://schemas.microsoft.com/office/drawing/2014/main" id="{1B35A300-B2F3-3429-988B-9B12E36AF1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8540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835008" y="-4800375"/>
            <a:ext cx="15845258" cy="12622974"/>
            <a:chOff x="-835008" y="-4800375"/>
            <a:chExt cx="15845258" cy="12622974"/>
          </a:xfrm>
        </p:grpSpPr>
        <p:pic>
          <p:nvPicPr>
            <p:cNvPr id="10" name="Google Shape;10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950851" y="-1082487"/>
              <a:ext cx="5600827" cy="80874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" name="Google Shape;11;p2"/>
            <p:cNvGrpSpPr/>
            <p:nvPr/>
          </p:nvGrpSpPr>
          <p:grpSpPr>
            <a:xfrm>
              <a:off x="-783175" y="3465726"/>
              <a:ext cx="15793425" cy="4356874"/>
              <a:chOff x="-783175" y="3465726"/>
              <a:chExt cx="15793425" cy="4356874"/>
            </a:xfrm>
          </p:grpSpPr>
          <p:pic>
            <p:nvPicPr>
              <p:cNvPr id="12" name="Google Shape;12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5301" y="3465726"/>
                <a:ext cx="14904950" cy="3915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3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-783175" y="4388399"/>
                <a:ext cx="8149750" cy="34342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" name="Google Shape;14;p2"/>
            <p:cNvGrpSpPr/>
            <p:nvPr/>
          </p:nvGrpSpPr>
          <p:grpSpPr>
            <a:xfrm>
              <a:off x="-835008" y="-4800375"/>
              <a:ext cx="13497781" cy="11438001"/>
              <a:chOff x="-835008" y="-4800375"/>
              <a:chExt cx="13497781" cy="11438001"/>
            </a:xfrm>
          </p:grpSpPr>
          <p:pic>
            <p:nvPicPr>
              <p:cNvPr id="15" name="Google Shape;15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2890614">
                <a:off x="1694692" y="-1525095"/>
                <a:ext cx="10975314" cy="48874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" name="Google Shape;16;p2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10207459">
                <a:off x="-709002" y="-585698"/>
                <a:ext cx="6334425" cy="2016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16375" y="842825"/>
            <a:ext cx="4595400" cy="2247900"/>
          </a:xfrm>
          <a:prstGeom prst="rect">
            <a:avLst/>
          </a:prstGeom>
          <a:effectLst>
            <a:outerShdw blurRad="57150" dist="9525" algn="bl" rotWithShape="0">
              <a:schemeClr val="accent1">
                <a:alpha val="6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400">
                <a:latin typeface="Kufam"/>
                <a:ea typeface="Kufam"/>
                <a:cs typeface="Kufam"/>
                <a:sym typeface="Kufa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16375" y="3846413"/>
            <a:ext cx="2341200" cy="73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Commissioner"/>
                <a:ea typeface="Commissioner"/>
                <a:cs typeface="Commissioner"/>
                <a:sym typeface="Commission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1093763" y="2416900"/>
            <a:ext cx="323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1093763" y="854000"/>
            <a:ext cx="7449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0">
                <a:solidFill>
                  <a:schemeClr val="accent3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1093763" y="3371749"/>
            <a:ext cx="3234000" cy="7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Commissioner"/>
                <a:ea typeface="Commissioner"/>
                <a:cs typeface="Commissioner"/>
                <a:sym typeface="Commission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23" name="Google Shape;23;p3"/>
          <p:cNvGrpSpPr/>
          <p:nvPr/>
        </p:nvGrpSpPr>
        <p:grpSpPr>
          <a:xfrm>
            <a:off x="-2389279" y="-5390624"/>
            <a:ext cx="13829028" cy="16211861"/>
            <a:chOff x="-2389279" y="-5390624"/>
            <a:chExt cx="13829028" cy="16211861"/>
          </a:xfrm>
        </p:grpSpPr>
        <p:grpSp>
          <p:nvGrpSpPr>
            <p:cNvPr id="24" name="Google Shape;24;p3"/>
            <p:cNvGrpSpPr/>
            <p:nvPr/>
          </p:nvGrpSpPr>
          <p:grpSpPr>
            <a:xfrm>
              <a:off x="-2389279" y="-2419090"/>
              <a:ext cx="13829028" cy="13240327"/>
              <a:chOff x="-2389279" y="-2419090"/>
              <a:chExt cx="13829028" cy="13240327"/>
            </a:xfrm>
          </p:grpSpPr>
          <p:pic>
            <p:nvPicPr>
              <p:cNvPr id="25" name="Google Shape;25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4500001">
                <a:off x="2026998" y="2752361"/>
                <a:ext cx="12446100" cy="32695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" name="Google Shape;26;p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-466287" y="-643650"/>
                <a:ext cx="7446324" cy="6820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" name="Google Shape;27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-4500001" flipH="1">
                <a:off x="-5422627" y="2380261"/>
                <a:ext cx="12446100" cy="32695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8" name="Google Shape;28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4029018">
              <a:off x="688497" y="-1990241"/>
              <a:ext cx="10245654" cy="431738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7"/>
          <p:cNvGrpSpPr/>
          <p:nvPr/>
        </p:nvGrpSpPr>
        <p:grpSpPr>
          <a:xfrm>
            <a:off x="3728899" y="-3197275"/>
            <a:ext cx="10185251" cy="12593723"/>
            <a:chOff x="3728899" y="-3197275"/>
            <a:chExt cx="10185251" cy="12593723"/>
          </a:xfrm>
        </p:grpSpPr>
        <p:pic>
          <p:nvPicPr>
            <p:cNvPr id="46" name="Google Shape;46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4500000">
              <a:off x="3320264" y="-698629"/>
              <a:ext cx="11002522" cy="75964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303502">
              <a:off x="6921049" y="440325"/>
              <a:ext cx="3285724" cy="12094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" name="Google Shape;48;p7"/>
          <p:cNvSpPr txBox="1">
            <a:spLocks noGrp="1"/>
          </p:cNvSpPr>
          <p:nvPr>
            <p:ph type="subTitle" idx="1"/>
          </p:nvPr>
        </p:nvSpPr>
        <p:spPr>
          <a:xfrm>
            <a:off x="716375" y="1280775"/>
            <a:ext cx="6709200" cy="30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716375" y="44288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-5763858" y="-4800375"/>
            <a:ext cx="15845258" cy="12622974"/>
            <a:chOff x="-5763858" y="-4800375"/>
            <a:chExt cx="15845258" cy="12622974"/>
          </a:xfrm>
        </p:grpSpPr>
        <p:grpSp>
          <p:nvGrpSpPr>
            <p:cNvPr id="52" name="Google Shape;52;p8"/>
            <p:cNvGrpSpPr/>
            <p:nvPr/>
          </p:nvGrpSpPr>
          <p:grpSpPr>
            <a:xfrm flipH="1">
              <a:off x="-5763858" y="3465726"/>
              <a:ext cx="15793425" cy="4356874"/>
              <a:chOff x="-783175" y="3465726"/>
              <a:chExt cx="15793425" cy="4356874"/>
            </a:xfrm>
          </p:grpSpPr>
          <p:pic>
            <p:nvPicPr>
              <p:cNvPr id="53" name="Google Shape;53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05301" y="3465726"/>
                <a:ext cx="14904950" cy="3915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" name="Google Shape;54;p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-783175" y="4388399"/>
                <a:ext cx="8149750" cy="34342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5" name="Google Shape;55;p8"/>
            <p:cNvGrpSpPr/>
            <p:nvPr/>
          </p:nvGrpSpPr>
          <p:grpSpPr>
            <a:xfrm flipH="1">
              <a:off x="-3416381" y="-4800375"/>
              <a:ext cx="13497781" cy="11438001"/>
              <a:chOff x="-835008" y="-4800375"/>
              <a:chExt cx="13497781" cy="11438001"/>
            </a:xfrm>
          </p:grpSpPr>
          <p:pic>
            <p:nvPicPr>
              <p:cNvPr id="56" name="Google Shape;56;p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2890614">
                <a:off x="1694692" y="-1525095"/>
                <a:ext cx="10975314" cy="48874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7" name="Google Shape;57;p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10207459">
                <a:off x="-709002" y="-585698"/>
                <a:ext cx="6334425" cy="2016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2438850" y="1642050"/>
            <a:ext cx="4266300" cy="185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 hasCustomPrompt="1"/>
          </p:nvPr>
        </p:nvSpPr>
        <p:spPr>
          <a:xfrm>
            <a:off x="716375" y="1217325"/>
            <a:ext cx="6825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200" b="0">
                <a:solidFill>
                  <a:schemeClr val="accent3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716375" y="2098425"/>
            <a:ext cx="2256300" cy="6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716375" y="1700025"/>
            <a:ext cx="22563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Kufam"/>
              <a:buNone/>
              <a:defRPr sz="1600">
                <a:solidFill>
                  <a:schemeClr val="lt2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3" hasCustomPrompt="1"/>
          </p:nvPr>
        </p:nvSpPr>
        <p:spPr>
          <a:xfrm>
            <a:off x="3201275" y="1217325"/>
            <a:ext cx="6825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200" b="0">
                <a:solidFill>
                  <a:schemeClr val="accent3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3201275" y="2098425"/>
            <a:ext cx="2256300" cy="6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3201275" y="1700025"/>
            <a:ext cx="22563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Kufam"/>
              <a:buNone/>
              <a:defRPr sz="1600">
                <a:solidFill>
                  <a:schemeClr val="lt2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6" hasCustomPrompt="1"/>
          </p:nvPr>
        </p:nvSpPr>
        <p:spPr>
          <a:xfrm>
            <a:off x="5686175" y="1217325"/>
            <a:ext cx="6825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200" b="0">
                <a:solidFill>
                  <a:schemeClr val="accent3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5686175" y="2098425"/>
            <a:ext cx="2256300" cy="6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5686175" y="1700025"/>
            <a:ext cx="22563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Kufam"/>
              <a:buNone/>
              <a:defRPr sz="1600">
                <a:solidFill>
                  <a:schemeClr val="lt2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716375" y="3032425"/>
            <a:ext cx="6825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200" b="0">
                <a:solidFill>
                  <a:schemeClr val="accent3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3"/>
          </p:nvPr>
        </p:nvSpPr>
        <p:spPr>
          <a:xfrm>
            <a:off x="716375" y="3913525"/>
            <a:ext cx="2256300" cy="6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4"/>
          </p:nvPr>
        </p:nvSpPr>
        <p:spPr>
          <a:xfrm>
            <a:off x="716375" y="3515125"/>
            <a:ext cx="22563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Kufam"/>
              <a:buNone/>
              <a:defRPr sz="1600">
                <a:solidFill>
                  <a:schemeClr val="lt2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3201275" y="3032425"/>
            <a:ext cx="6825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200" b="0">
                <a:solidFill>
                  <a:schemeClr val="accent3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6"/>
          </p:nvPr>
        </p:nvSpPr>
        <p:spPr>
          <a:xfrm>
            <a:off x="3201275" y="3913525"/>
            <a:ext cx="2256300" cy="6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7"/>
          </p:nvPr>
        </p:nvSpPr>
        <p:spPr>
          <a:xfrm>
            <a:off x="3201275" y="3515125"/>
            <a:ext cx="22563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Kufam"/>
              <a:buNone/>
              <a:defRPr sz="1600">
                <a:solidFill>
                  <a:schemeClr val="lt2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8" hasCustomPrompt="1"/>
          </p:nvPr>
        </p:nvSpPr>
        <p:spPr>
          <a:xfrm>
            <a:off x="5686175" y="3032425"/>
            <a:ext cx="6825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200" b="0">
                <a:solidFill>
                  <a:schemeClr val="accent3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9"/>
          </p:nvPr>
        </p:nvSpPr>
        <p:spPr>
          <a:xfrm>
            <a:off x="5686175" y="3913525"/>
            <a:ext cx="2256300" cy="6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20"/>
          </p:nvPr>
        </p:nvSpPr>
        <p:spPr>
          <a:xfrm>
            <a:off x="5686175" y="3515125"/>
            <a:ext cx="22563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Kufam"/>
              <a:buNone/>
              <a:defRPr sz="1600">
                <a:solidFill>
                  <a:schemeClr val="lt2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21"/>
          </p:nvPr>
        </p:nvSpPr>
        <p:spPr>
          <a:xfrm>
            <a:off x="716375" y="445025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grpSp>
        <p:nvGrpSpPr>
          <p:cNvPr id="93" name="Google Shape;93;p13"/>
          <p:cNvGrpSpPr/>
          <p:nvPr/>
        </p:nvGrpSpPr>
        <p:grpSpPr>
          <a:xfrm>
            <a:off x="6088174" y="-1490850"/>
            <a:ext cx="6289650" cy="9082077"/>
            <a:chOff x="6088174" y="-1490850"/>
            <a:chExt cx="6289650" cy="9082077"/>
          </a:xfrm>
        </p:grpSpPr>
        <p:pic>
          <p:nvPicPr>
            <p:cNvPr id="94" name="Google Shape;94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088174" y="-1490850"/>
              <a:ext cx="6289650" cy="90820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6937587" y="-98897"/>
              <a:ext cx="3904127" cy="14371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4"/>
          <p:cNvGrpSpPr/>
          <p:nvPr/>
        </p:nvGrpSpPr>
        <p:grpSpPr>
          <a:xfrm>
            <a:off x="-2464230" y="-2891455"/>
            <a:ext cx="14933663" cy="14995374"/>
            <a:chOff x="-2464230" y="-2891455"/>
            <a:chExt cx="14933663" cy="14995374"/>
          </a:xfrm>
        </p:grpSpPr>
        <p:pic>
          <p:nvPicPr>
            <p:cNvPr id="98" name="Google Shape;98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646968">
              <a:off x="3105400" y="-862580"/>
              <a:ext cx="9144003" cy="31878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7992305" y="2636619"/>
              <a:ext cx="14995374" cy="3939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716375" y="445025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716375" y="1598825"/>
            <a:ext cx="7711200" cy="6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2"/>
          </p:nvPr>
        </p:nvSpPr>
        <p:spPr>
          <a:xfrm>
            <a:off x="716375" y="1116125"/>
            <a:ext cx="77112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Kufam"/>
              <a:buNone/>
              <a:defRPr sz="1600">
                <a:solidFill>
                  <a:schemeClr val="lt2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subTitle" idx="3"/>
          </p:nvPr>
        </p:nvSpPr>
        <p:spPr>
          <a:xfrm>
            <a:off x="716375" y="2775625"/>
            <a:ext cx="7711200" cy="6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4"/>
          </p:nvPr>
        </p:nvSpPr>
        <p:spPr>
          <a:xfrm>
            <a:off x="716375" y="2292925"/>
            <a:ext cx="77112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lvl="0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Kufam"/>
              <a:buNone/>
              <a:defRPr sz="1600">
                <a:solidFill>
                  <a:schemeClr val="lt2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subTitle" idx="5"/>
          </p:nvPr>
        </p:nvSpPr>
        <p:spPr>
          <a:xfrm>
            <a:off x="716375" y="3952425"/>
            <a:ext cx="7711200" cy="6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6"/>
          </p:nvPr>
        </p:nvSpPr>
        <p:spPr>
          <a:xfrm>
            <a:off x="716375" y="3469725"/>
            <a:ext cx="77112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lvl="0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Kufam"/>
              <a:buNone/>
              <a:defRPr sz="1600">
                <a:solidFill>
                  <a:schemeClr val="lt2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0"/>
          <p:cNvGrpSpPr/>
          <p:nvPr/>
        </p:nvGrpSpPr>
        <p:grpSpPr>
          <a:xfrm>
            <a:off x="6366341" y="-7477099"/>
            <a:ext cx="8629734" cy="14166838"/>
            <a:chOff x="6529166" y="-7477099"/>
            <a:chExt cx="8629734" cy="14166838"/>
          </a:xfrm>
        </p:grpSpPr>
        <p:pic>
          <p:nvPicPr>
            <p:cNvPr id="165" name="Google Shape;165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4500001" flipH="1">
              <a:off x="5742102" y="-3931802"/>
              <a:ext cx="11151023" cy="4965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3166224" flipH="1">
              <a:off x="6330263" y="3982153"/>
              <a:ext cx="3904126" cy="1437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7" name="Google Shape;167;p20"/>
          <p:cNvSpPr txBox="1">
            <a:spLocks noGrp="1"/>
          </p:cNvSpPr>
          <p:nvPr>
            <p:ph type="title"/>
          </p:nvPr>
        </p:nvSpPr>
        <p:spPr>
          <a:xfrm>
            <a:off x="716375" y="428075"/>
            <a:ext cx="77112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0"/>
          <p:cNvSpPr txBox="1">
            <a:spLocks noGrp="1"/>
          </p:cNvSpPr>
          <p:nvPr>
            <p:ph type="subTitle" idx="1"/>
          </p:nvPr>
        </p:nvSpPr>
        <p:spPr>
          <a:xfrm>
            <a:off x="716375" y="1393050"/>
            <a:ext cx="4745400" cy="28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4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22"/>
          <p:cNvGrpSpPr/>
          <p:nvPr/>
        </p:nvGrpSpPr>
        <p:grpSpPr>
          <a:xfrm>
            <a:off x="6529166" y="-7477099"/>
            <a:ext cx="8629734" cy="14166838"/>
            <a:chOff x="6529166" y="-7477099"/>
            <a:chExt cx="8629734" cy="14166838"/>
          </a:xfrm>
        </p:grpSpPr>
        <p:pic>
          <p:nvPicPr>
            <p:cNvPr id="177" name="Google Shape;177;p2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4500001" flipH="1">
              <a:off x="5742102" y="-3931802"/>
              <a:ext cx="11151023" cy="4965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3166224" flipH="1">
              <a:off x="6330263" y="3982153"/>
              <a:ext cx="3904126" cy="1437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22"/>
          <p:cNvSpPr txBox="1">
            <a:spLocks noGrp="1"/>
          </p:cNvSpPr>
          <p:nvPr>
            <p:ph type="title"/>
          </p:nvPr>
        </p:nvSpPr>
        <p:spPr>
          <a:xfrm>
            <a:off x="716375" y="445025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body" idx="1"/>
          </p:nvPr>
        </p:nvSpPr>
        <p:spPr>
          <a:xfrm>
            <a:off x="716375" y="1034350"/>
            <a:ext cx="7711200" cy="35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5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28"/>
          <p:cNvGrpSpPr/>
          <p:nvPr/>
        </p:nvGrpSpPr>
        <p:grpSpPr>
          <a:xfrm>
            <a:off x="-2406610" y="-2663275"/>
            <a:ext cx="13281520" cy="10688375"/>
            <a:chOff x="-2406610" y="-2663275"/>
            <a:chExt cx="13281520" cy="10688375"/>
          </a:xfrm>
        </p:grpSpPr>
        <p:pic>
          <p:nvPicPr>
            <p:cNvPr id="216" name="Google Shape;216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4413556" flipH="1">
              <a:off x="2703402" y="919537"/>
              <a:ext cx="10104493" cy="3522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964613">
              <a:off x="-2166775" y="-796198"/>
              <a:ext cx="7169650" cy="2744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6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29"/>
          <p:cNvGrpSpPr/>
          <p:nvPr/>
        </p:nvGrpSpPr>
        <p:grpSpPr>
          <a:xfrm>
            <a:off x="-2114154" y="-2006502"/>
            <a:ext cx="13684489" cy="12868227"/>
            <a:chOff x="-2114154" y="-2006502"/>
            <a:chExt cx="13684489" cy="12868227"/>
          </a:xfrm>
        </p:grpSpPr>
        <p:pic>
          <p:nvPicPr>
            <p:cNvPr id="220" name="Google Shape;220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964613" flipH="1">
              <a:off x="4160850" y="-796198"/>
              <a:ext cx="7169650" cy="27446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1" name="Google Shape;221;p29"/>
            <p:cNvGrpSpPr/>
            <p:nvPr/>
          </p:nvGrpSpPr>
          <p:grpSpPr>
            <a:xfrm flipH="1">
              <a:off x="-2114154" y="-2006502"/>
              <a:ext cx="6379403" cy="12868227"/>
              <a:chOff x="5005346" y="-2006502"/>
              <a:chExt cx="6379403" cy="12868227"/>
            </a:xfrm>
          </p:grpSpPr>
          <p:pic>
            <p:nvPicPr>
              <p:cNvPr id="222" name="Google Shape;222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4500001">
                <a:off x="1971998" y="2792848"/>
                <a:ext cx="12446100" cy="32695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3" name="Google Shape;223;p2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-5400000">
                <a:off x="5534500" y="1780249"/>
                <a:ext cx="8149750" cy="34342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6375" y="445025"/>
            <a:ext cx="7711200" cy="572700"/>
          </a:xfrm>
          <a:prstGeom prst="rect">
            <a:avLst/>
          </a:prstGeom>
          <a:noFill/>
          <a:ln>
            <a:noFill/>
          </a:ln>
          <a:effectLst>
            <a:outerShdw blurRad="57150" dist="9525" algn="bl" rotWithShape="0">
              <a:schemeClr val="accent1">
                <a:alpha val="6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6375" y="1152475"/>
            <a:ext cx="7711200" cy="3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Char char="●"/>
              <a:defRPr sz="18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8" r:id="rId6"/>
    <p:sldLayoutId id="2147483659" r:id="rId7"/>
    <p:sldLayoutId id="2147483660" r:id="rId8"/>
    <p:sldLayoutId id="2147483666" r:id="rId9"/>
    <p:sldLayoutId id="2147483668" r:id="rId10"/>
    <p:sldLayoutId id="2147483674" r:id="rId11"/>
    <p:sldLayoutId id="2147483675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" TargetMode="External"/><Relationship Id="rId2" Type="http://schemas.openxmlformats.org/officeDocument/2006/relationships/hyperlink" Target="https://www.kaggle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geeksforgeeks.org/deep-learning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C38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>
            <a:spLocks noGrp="1"/>
          </p:cNvSpPr>
          <p:nvPr>
            <p:ph type="ctrTitle"/>
          </p:nvPr>
        </p:nvSpPr>
        <p:spPr>
          <a:xfrm>
            <a:off x="716375" y="842825"/>
            <a:ext cx="4595400" cy="15515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lexandria Light"/>
                <a:ea typeface="Alexandria Light"/>
                <a:cs typeface="Alexandria Light"/>
                <a:sym typeface="Alexandria Light"/>
              </a:rPr>
              <a:t>Facial Emotion Detection</a:t>
            </a:r>
          </a:p>
        </p:txBody>
      </p:sp>
      <p:sp>
        <p:nvSpPr>
          <p:cNvPr id="235" name="Google Shape;235;p33"/>
          <p:cNvSpPr txBox="1">
            <a:spLocks noGrp="1"/>
          </p:cNvSpPr>
          <p:nvPr>
            <p:ph type="subTitle" idx="1"/>
          </p:nvPr>
        </p:nvSpPr>
        <p:spPr>
          <a:xfrm>
            <a:off x="810298" y="2520572"/>
            <a:ext cx="5621242" cy="18534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" b="1"/>
              <a:t>Course: </a:t>
            </a:r>
            <a:r>
              <a:rPr lang="en"/>
              <a:t>I</a:t>
            </a:r>
            <a:r>
              <a:rPr lang="en-US"/>
              <a:t>T3320E - Deep Learning</a:t>
            </a:r>
          </a:p>
          <a:p>
            <a:pPr marL="0" lvl="0" indent="0"/>
            <a:endParaRPr lang="en-US" b="1"/>
          </a:p>
          <a:p>
            <a:pPr marL="0" indent="0"/>
            <a:r>
              <a:rPr lang="en-US" b="1"/>
              <a:t>Group Members:</a:t>
            </a:r>
            <a:r>
              <a:rPr lang="en-US"/>
              <a:t> Nguyen Thai Anh Minh, Dang Trung Anh,             Pham Duc Duy, Bui Cong Minh </a:t>
            </a:r>
          </a:p>
          <a:p>
            <a:pPr marL="0" lvl="0" indent="0"/>
            <a:endParaRPr lang="en-US"/>
          </a:p>
          <a:p>
            <a:pPr marL="0" lvl="0" indent="0"/>
            <a:r>
              <a:rPr lang="en-US" b="1"/>
              <a:t>Supervisor:</a:t>
            </a:r>
            <a:r>
              <a:rPr lang="en-US"/>
              <a:t> Ph.D. Than Quang </a:t>
            </a:r>
            <a:r>
              <a:rPr lang="en-US" err="1"/>
              <a:t>Khoat</a:t>
            </a:r>
            <a:endParaRPr lang="en-US"/>
          </a:p>
        </p:txBody>
      </p:sp>
      <p:cxnSp>
        <p:nvCxnSpPr>
          <p:cNvPr id="236" name="Google Shape;236;p33"/>
          <p:cNvCxnSpPr/>
          <p:nvPr/>
        </p:nvCxnSpPr>
        <p:spPr>
          <a:xfrm>
            <a:off x="810300" y="2460554"/>
            <a:ext cx="5237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chemeClr val="lt2">
                <a:alpha val="50000"/>
              </a:scheme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"/>
          <p:cNvSpPr txBox="1">
            <a:spLocks noGrp="1"/>
          </p:cNvSpPr>
          <p:nvPr>
            <p:ph type="title" idx="21"/>
          </p:nvPr>
        </p:nvSpPr>
        <p:spPr>
          <a:xfrm>
            <a:off x="716375" y="445025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 sz="2600" b="0">
              <a:latin typeface="Alexandria SemiBold"/>
              <a:ea typeface="Alexandria SemiBold"/>
              <a:cs typeface="Alexandria SemiBold"/>
              <a:sym typeface="Alexandria SemiBold"/>
            </a:endParaRPr>
          </a:p>
        </p:txBody>
      </p:sp>
      <p:sp>
        <p:nvSpPr>
          <p:cNvPr id="251" name="Google Shape;251;p35"/>
          <p:cNvSpPr txBox="1">
            <a:spLocks noGrp="1"/>
          </p:cNvSpPr>
          <p:nvPr>
            <p:ph type="title"/>
          </p:nvPr>
        </p:nvSpPr>
        <p:spPr>
          <a:xfrm>
            <a:off x="716375" y="1217325"/>
            <a:ext cx="6825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01</a:t>
            </a:r>
            <a:endParaRPr sz="2400"/>
          </a:p>
        </p:txBody>
      </p:sp>
      <p:sp>
        <p:nvSpPr>
          <p:cNvPr id="252" name="Google Shape;252;p35"/>
          <p:cNvSpPr txBox="1">
            <a:spLocks noGrp="1"/>
          </p:cNvSpPr>
          <p:nvPr>
            <p:ph type="subTitle" idx="1"/>
          </p:nvPr>
        </p:nvSpPr>
        <p:spPr>
          <a:xfrm>
            <a:off x="716375" y="2098425"/>
            <a:ext cx="2261014" cy="6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Problem statement and the dataset</a:t>
            </a:r>
            <a:endParaRPr sz="1600"/>
          </a:p>
        </p:txBody>
      </p:sp>
      <p:sp>
        <p:nvSpPr>
          <p:cNvPr id="253" name="Google Shape;253;p35"/>
          <p:cNvSpPr txBox="1">
            <a:spLocks noGrp="1"/>
          </p:cNvSpPr>
          <p:nvPr>
            <p:ph type="subTitle" idx="2"/>
          </p:nvPr>
        </p:nvSpPr>
        <p:spPr>
          <a:xfrm>
            <a:off x="716375" y="1700025"/>
            <a:ext cx="22563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Introduction</a:t>
            </a:r>
            <a:endParaRPr sz="1800"/>
          </a:p>
        </p:txBody>
      </p:sp>
      <p:sp>
        <p:nvSpPr>
          <p:cNvPr id="254" name="Google Shape;254;p35"/>
          <p:cNvSpPr txBox="1">
            <a:spLocks noGrp="1"/>
          </p:cNvSpPr>
          <p:nvPr>
            <p:ph type="title" idx="3"/>
          </p:nvPr>
        </p:nvSpPr>
        <p:spPr>
          <a:xfrm>
            <a:off x="4399455" y="1217325"/>
            <a:ext cx="6825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02</a:t>
            </a:r>
            <a:endParaRPr sz="2400"/>
          </a:p>
        </p:txBody>
      </p:sp>
      <p:sp>
        <p:nvSpPr>
          <p:cNvPr id="255" name="Google Shape;255;p35"/>
          <p:cNvSpPr txBox="1">
            <a:spLocks noGrp="1"/>
          </p:cNvSpPr>
          <p:nvPr>
            <p:ph type="subTitle" idx="4"/>
          </p:nvPr>
        </p:nvSpPr>
        <p:spPr>
          <a:xfrm>
            <a:off x="4399454" y="2098425"/>
            <a:ext cx="2754915" cy="6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2 methods: Custom CNN and ResNet18</a:t>
            </a:r>
            <a:endParaRPr sz="1600"/>
          </a:p>
        </p:txBody>
      </p:sp>
      <p:sp>
        <p:nvSpPr>
          <p:cNvPr id="256" name="Google Shape;256;p35"/>
          <p:cNvSpPr txBox="1">
            <a:spLocks noGrp="1"/>
          </p:cNvSpPr>
          <p:nvPr>
            <p:ph type="subTitle" idx="5"/>
          </p:nvPr>
        </p:nvSpPr>
        <p:spPr>
          <a:xfrm>
            <a:off x="4399455" y="1700025"/>
            <a:ext cx="22563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Methods</a:t>
            </a:r>
            <a:endParaRPr sz="1800"/>
          </a:p>
        </p:txBody>
      </p:sp>
      <p:sp>
        <p:nvSpPr>
          <p:cNvPr id="257" name="Google Shape;257;p35"/>
          <p:cNvSpPr txBox="1">
            <a:spLocks noGrp="1"/>
          </p:cNvSpPr>
          <p:nvPr>
            <p:ph type="title" idx="6"/>
          </p:nvPr>
        </p:nvSpPr>
        <p:spPr>
          <a:xfrm>
            <a:off x="716375" y="2960776"/>
            <a:ext cx="6825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03</a:t>
            </a:r>
            <a:endParaRPr sz="2400"/>
          </a:p>
        </p:txBody>
      </p:sp>
      <p:sp>
        <p:nvSpPr>
          <p:cNvPr id="258" name="Google Shape;258;p35"/>
          <p:cNvSpPr txBox="1">
            <a:spLocks noGrp="1"/>
          </p:cNvSpPr>
          <p:nvPr>
            <p:ph type="subTitle" idx="7"/>
          </p:nvPr>
        </p:nvSpPr>
        <p:spPr>
          <a:xfrm>
            <a:off x="716375" y="3841876"/>
            <a:ext cx="2256300" cy="6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Comparison and analysis</a:t>
            </a:r>
            <a:endParaRPr sz="1600"/>
          </a:p>
        </p:txBody>
      </p:sp>
      <p:sp>
        <p:nvSpPr>
          <p:cNvPr id="259" name="Google Shape;259;p35"/>
          <p:cNvSpPr txBox="1">
            <a:spLocks noGrp="1"/>
          </p:cNvSpPr>
          <p:nvPr>
            <p:ph type="subTitle" idx="8"/>
          </p:nvPr>
        </p:nvSpPr>
        <p:spPr>
          <a:xfrm>
            <a:off x="716375" y="3443476"/>
            <a:ext cx="22563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Results</a:t>
            </a:r>
            <a:endParaRPr sz="1800"/>
          </a:p>
        </p:txBody>
      </p:sp>
      <p:sp>
        <p:nvSpPr>
          <p:cNvPr id="260" name="Google Shape;260;p35"/>
          <p:cNvSpPr txBox="1">
            <a:spLocks noGrp="1"/>
          </p:cNvSpPr>
          <p:nvPr>
            <p:ph type="title" idx="9"/>
          </p:nvPr>
        </p:nvSpPr>
        <p:spPr>
          <a:xfrm>
            <a:off x="4399455" y="2960776"/>
            <a:ext cx="6825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04</a:t>
            </a:r>
            <a:endParaRPr sz="2400"/>
          </a:p>
        </p:txBody>
      </p:sp>
      <p:sp>
        <p:nvSpPr>
          <p:cNvPr id="261" name="Google Shape;261;p35"/>
          <p:cNvSpPr txBox="1">
            <a:spLocks noGrp="1"/>
          </p:cNvSpPr>
          <p:nvPr>
            <p:ph type="subTitle" idx="13"/>
          </p:nvPr>
        </p:nvSpPr>
        <p:spPr>
          <a:xfrm>
            <a:off x="4399455" y="3841876"/>
            <a:ext cx="2884214" cy="6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Summary and recommendation</a:t>
            </a:r>
            <a:endParaRPr sz="1600"/>
          </a:p>
        </p:txBody>
      </p:sp>
      <p:sp>
        <p:nvSpPr>
          <p:cNvPr id="262" name="Google Shape;262;p35"/>
          <p:cNvSpPr txBox="1">
            <a:spLocks noGrp="1"/>
          </p:cNvSpPr>
          <p:nvPr>
            <p:ph type="subTitle" idx="14"/>
          </p:nvPr>
        </p:nvSpPr>
        <p:spPr>
          <a:xfrm>
            <a:off x="4399455" y="3443476"/>
            <a:ext cx="22563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Conclusion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>
            <a:spLocks noGrp="1"/>
          </p:cNvSpPr>
          <p:nvPr>
            <p:ph type="title"/>
          </p:nvPr>
        </p:nvSpPr>
        <p:spPr>
          <a:xfrm>
            <a:off x="1093763" y="2416900"/>
            <a:ext cx="36453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74" name="Google Shape;274;p36"/>
          <p:cNvSpPr txBox="1">
            <a:spLocks noGrp="1"/>
          </p:cNvSpPr>
          <p:nvPr>
            <p:ph type="title" idx="2"/>
          </p:nvPr>
        </p:nvSpPr>
        <p:spPr>
          <a:xfrm>
            <a:off x="1093763" y="854000"/>
            <a:ext cx="7449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276" name="Google Shape;276;p36"/>
          <p:cNvCxnSpPr/>
          <p:nvPr/>
        </p:nvCxnSpPr>
        <p:spPr>
          <a:xfrm>
            <a:off x="1185749" y="3258696"/>
            <a:ext cx="36453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chemeClr val="lt2">
                <a:alpha val="50000"/>
              </a:schemeClr>
            </a:outerShdw>
          </a:effectLst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71FE2349-3513-DE0B-F4A7-1E584F0F70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 txBox="1">
            <a:spLocks noGrp="1"/>
          </p:cNvSpPr>
          <p:nvPr>
            <p:ph type="title"/>
          </p:nvPr>
        </p:nvSpPr>
        <p:spPr>
          <a:xfrm>
            <a:off x="716375" y="445025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282" name="Google Shape;282;p37"/>
          <p:cNvSpPr txBox="1">
            <a:spLocks noGrp="1"/>
          </p:cNvSpPr>
          <p:nvPr>
            <p:ph type="subTitle" idx="1"/>
          </p:nvPr>
        </p:nvSpPr>
        <p:spPr>
          <a:xfrm>
            <a:off x="716375" y="1427686"/>
            <a:ext cx="7954660" cy="1071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Human emotion recognition is critical for social interaction, robotics, and human-computer interface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Deep learning approaches leads to a breakthrough in the field of emotion identification and becomes an interesting research topic</a:t>
            </a:r>
            <a:endParaRPr/>
          </a:p>
        </p:txBody>
      </p:sp>
      <p:sp>
        <p:nvSpPr>
          <p:cNvPr id="283" name="Google Shape;283;p37"/>
          <p:cNvSpPr txBox="1">
            <a:spLocks noGrp="1"/>
          </p:cNvSpPr>
          <p:nvPr>
            <p:ph type="subTitle" idx="2"/>
          </p:nvPr>
        </p:nvSpPr>
        <p:spPr>
          <a:xfrm>
            <a:off x="716375" y="1038780"/>
            <a:ext cx="77112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284" name="Google Shape;284;p37"/>
          <p:cNvSpPr txBox="1">
            <a:spLocks noGrp="1"/>
          </p:cNvSpPr>
          <p:nvPr>
            <p:ph type="subTitle" idx="3"/>
          </p:nvPr>
        </p:nvSpPr>
        <p:spPr>
          <a:xfrm>
            <a:off x="716375" y="2869419"/>
            <a:ext cx="77112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Develop and compare deep learning models to classify facial expressions into different categories</a:t>
            </a:r>
            <a:endParaRPr/>
          </a:p>
        </p:txBody>
      </p:sp>
      <p:sp>
        <p:nvSpPr>
          <p:cNvPr id="285" name="Google Shape;285;p37"/>
          <p:cNvSpPr txBox="1">
            <a:spLocks noGrp="1"/>
          </p:cNvSpPr>
          <p:nvPr>
            <p:ph type="subTitle" idx="4"/>
          </p:nvPr>
        </p:nvSpPr>
        <p:spPr>
          <a:xfrm>
            <a:off x="716375" y="2484802"/>
            <a:ext cx="77112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286" name="Google Shape;286;p37"/>
          <p:cNvSpPr txBox="1">
            <a:spLocks noGrp="1"/>
          </p:cNvSpPr>
          <p:nvPr>
            <p:ph type="subTitle" idx="5"/>
          </p:nvPr>
        </p:nvSpPr>
        <p:spPr>
          <a:xfrm>
            <a:off x="716375" y="3928613"/>
            <a:ext cx="7711200" cy="6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A custom-designed CNN trained from scratch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Transfer Learning using ResNet18</a:t>
            </a:r>
          </a:p>
        </p:txBody>
      </p:sp>
      <p:sp>
        <p:nvSpPr>
          <p:cNvPr id="287" name="Google Shape;287;p37"/>
          <p:cNvSpPr txBox="1">
            <a:spLocks noGrp="1"/>
          </p:cNvSpPr>
          <p:nvPr>
            <p:ph type="subTitle" idx="6"/>
          </p:nvPr>
        </p:nvSpPr>
        <p:spPr>
          <a:xfrm>
            <a:off x="716375" y="3543996"/>
            <a:ext cx="77112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7B07C5D-A6C6-967E-127F-CF17B20DC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79" y="467489"/>
            <a:ext cx="7711200" cy="606600"/>
          </a:xfrm>
        </p:spPr>
        <p:txBody>
          <a:bodyPr/>
          <a:lstStyle/>
          <a:p>
            <a:r>
              <a:rPr lang="en-US"/>
              <a:t>Dataset: FER-2013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4BCF37F-68C5-3785-E9FA-635581A0AB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53770" y="1159909"/>
            <a:ext cx="5172044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solidFill>
                  <a:schemeClr val="tx1"/>
                </a:solidFill>
                <a:effectLst/>
                <a:latin typeface="Commissioner" panose="020B0604020202020204" charset="0"/>
              </a:rPr>
              <a:t>Overview:</a:t>
            </a:r>
            <a:r>
              <a:rPr kumimoji="0" lang="en-US" altLang="en-US" b="0" i="0" u="none" strike="noStrike" cap="none" normalizeH="0" baseline="0">
                <a:solidFill>
                  <a:schemeClr val="tx1"/>
                </a:solidFill>
                <a:effectLst/>
                <a:latin typeface="Commissioner" panose="020B0604020202020204" charset="0"/>
              </a:rPr>
              <a:t> 35,887 grayscale images, 48x48-pixel resolution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solidFill>
                  <a:schemeClr val="tx1"/>
                </a:solidFill>
                <a:effectLst/>
                <a:latin typeface="Commissioner" panose="020B0604020202020204" charset="0"/>
              </a:rPr>
              <a:t>Classes:</a:t>
            </a:r>
            <a:r>
              <a:rPr kumimoji="0" lang="en-US" altLang="en-US" b="0" i="0" u="none" strike="noStrike" cap="none" normalizeH="0" baseline="0">
                <a:solidFill>
                  <a:schemeClr val="tx1"/>
                </a:solidFill>
                <a:effectLst/>
                <a:latin typeface="Commissioner" panose="020B0604020202020204" charset="0"/>
              </a:rPr>
              <a:t> Angry, Disgust, Fear, Happy, Sad, Surprise, Neutral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solidFill>
                  <a:schemeClr val="tx1"/>
                </a:solidFill>
                <a:effectLst/>
                <a:latin typeface="Commissioner" panose="020B0604020202020204" charset="0"/>
              </a:rPr>
              <a:t>Challenges:</a:t>
            </a:r>
            <a:endParaRPr kumimoji="0" lang="en-US" altLang="en-US" b="0" i="0" u="none" strike="noStrike" cap="none" normalizeH="0" baseline="0">
              <a:solidFill>
                <a:schemeClr val="tx1"/>
              </a:solidFill>
              <a:effectLst/>
              <a:latin typeface="Commissioner" panose="020B060402020202020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>
                <a:solidFill>
                  <a:schemeClr val="tx1"/>
                </a:solidFill>
                <a:effectLst/>
                <a:latin typeface="Commissioner" panose="020B0604020202020204" charset="0"/>
              </a:rPr>
              <a:t>Variability:</a:t>
            </a:r>
            <a:r>
              <a:rPr kumimoji="0" lang="en-US" altLang="en-US" b="0" i="0" u="none" strike="noStrike" cap="none" normalizeH="0" baseline="0">
                <a:solidFill>
                  <a:schemeClr val="tx1"/>
                </a:solidFill>
                <a:effectLst/>
                <a:latin typeface="Commissioner" panose="020B0604020202020204" charset="0"/>
              </a:rPr>
              <a:t> Significant differences in pose, illumination, and image quality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>
                <a:solidFill>
                  <a:schemeClr val="tx1"/>
                </a:solidFill>
                <a:effectLst/>
                <a:latin typeface="Commissioner" panose="020B0604020202020204" charset="0"/>
              </a:rPr>
              <a:t>Class Imbalance:</a:t>
            </a:r>
            <a:r>
              <a:rPr kumimoji="0" lang="en-US" altLang="en-US" b="0" i="0" u="none" strike="noStrike" cap="none" normalizeH="0" baseline="0">
                <a:solidFill>
                  <a:schemeClr val="tx1"/>
                </a:solidFill>
                <a:effectLst/>
                <a:latin typeface="Commissioner" panose="020B0604020202020204" charset="0"/>
              </a:rPr>
              <a:t> "Disgust" is significantly underrepresented compared to "Happy" or "Neutral"</a:t>
            </a:r>
            <a:endParaRPr kumimoji="0" lang="en-US" altLang="en-US" sz="500" b="0" i="0" u="none" strike="noStrike" cap="none" normalizeH="0" baseline="0">
              <a:solidFill>
                <a:schemeClr val="tx1"/>
              </a:solidFill>
              <a:effectLst/>
              <a:latin typeface="Commissioner" panose="020B060402020202020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solidFill>
                <a:schemeClr val="tx1"/>
              </a:solidFill>
              <a:effectLst/>
              <a:latin typeface="Commissioner" panose="020B060402020202020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3425BE-7248-3A4D-8B74-8892B1E83B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5724546" y="0"/>
            <a:ext cx="341945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59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82C9424C-C6E2-3329-2B84-6D5A39C73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>
            <a:extLst>
              <a:ext uri="{FF2B5EF4-FFF2-40B4-BE49-F238E27FC236}">
                <a16:creationId xmlns:a16="http://schemas.microsoft.com/office/drawing/2014/main" id="{F887C990-025A-3FE9-C618-1BB023D73B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3762" y="2416900"/>
            <a:ext cx="4227099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Methodologies</a:t>
            </a:r>
            <a:endParaRPr/>
          </a:p>
        </p:txBody>
      </p:sp>
      <p:sp>
        <p:nvSpPr>
          <p:cNvPr id="274" name="Google Shape;274;p36">
            <a:extLst>
              <a:ext uri="{FF2B5EF4-FFF2-40B4-BE49-F238E27FC236}">
                <a16:creationId xmlns:a16="http://schemas.microsoft.com/office/drawing/2014/main" id="{A4B95511-24F0-5810-5AA6-8D7A77F81BF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93762" y="854000"/>
            <a:ext cx="821747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276" name="Google Shape;276;p36">
            <a:extLst>
              <a:ext uri="{FF2B5EF4-FFF2-40B4-BE49-F238E27FC236}">
                <a16:creationId xmlns:a16="http://schemas.microsoft.com/office/drawing/2014/main" id="{657BCEC5-15F5-0DD0-A503-1C980A649D97}"/>
              </a:ext>
            </a:extLst>
          </p:cNvPr>
          <p:cNvCxnSpPr>
            <a:cxnSpLocks/>
          </p:cNvCxnSpPr>
          <p:nvPr/>
        </p:nvCxnSpPr>
        <p:spPr>
          <a:xfrm>
            <a:off x="1185749" y="3258696"/>
            <a:ext cx="3890748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chemeClr val="lt2">
                <a:alpha val="50000"/>
              </a:schemeClr>
            </a:outerShdw>
          </a:effectLst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A99730AF-1EB8-A5A7-815D-882AF2045B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31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 txBox="1">
            <a:spLocks noGrp="1"/>
          </p:cNvSpPr>
          <p:nvPr>
            <p:ph type="subTitle" idx="1"/>
          </p:nvPr>
        </p:nvSpPr>
        <p:spPr>
          <a:xfrm>
            <a:off x="716375" y="1015584"/>
            <a:ext cx="7370217" cy="34230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>
              <a:lnSpc>
                <a:spcPct val="150000"/>
              </a:lnSpc>
            </a:pPr>
            <a:r>
              <a:rPr lang="en-US" b="1"/>
              <a:t>Preprocessing</a:t>
            </a:r>
            <a:r>
              <a:rPr lang="en-US"/>
              <a:t>: </a:t>
            </a:r>
          </a:p>
          <a:p>
            <a:pPr lvl="1">
              <a:lnSpc>
                <a:spcPct val="150000"/>
              </a:lnSpc>
            </a:pPr>
            <a:r>
              <a:rPr lang="en-US"/>
              <a:t>Pixel values normalized to range [-1, 1] using mean 0.5 and standard deviation 0.5 for stability</a:t>
            </a:r>
          </a:p>
          <a:p>
            <a:pPr lvl="1">
              <a:lnSpc>
                <a:spcPct val="150000"/>
              </a:lnSpc>
            </a:pPr>
            <a:r>
              <a:rPr lang="en-US" b="1"/>
              <a:t>Data Augmentation:</a:t>
            </a:r>
            <a:r>
              <a:rPr lang="en-US"/>
              <a:t> Random flipping, rotations, and cropping applied to the training set</a:t>
            </a:r>
          </a:p>
          <a:p>
            <a:pPr>
              <a:lnSpc>
                <a:spcPct val="150000"/>
              </a:lnSpc>
            </a:pPr>
            <a:r>
              <a:rPr lang="en-US" b="1"/>
              <a:t>Handling Imbalance:</a:t>
            </a:r>
          </a:p>
          <a:p>
            <a:pPr lvl="1">
              <a:lnSpc>
                <a:spcPct val="150000"/>
              </a:lnSpc>
            </a:pPr>
            <a:r>
              <a:rPr lang="en-US"/>
              <a:t>Strategy: Weighted Random Sampling</a:t>
            </a:r>
          </a:p>
          <a:p>
            <a:pPr lvl="1">
              <a:lnSpc>
                <a:spcPct val="150000"/>
              </a:lnSpc>
            </a:pPr>
            <a:r>
              <a:rPr lang="en-US"/>
              <a:t>Why: Instead of modifying the loss function, this adjusts sampling probability</a:t>
            </a:r>
          </a:p>
          <a:p>
            <a:pPr marL="596900" lvl="1" indent="0">
              <a:lnSpc>
                <a:spcPct val="150000"/>
              </a:lnSpc>
              <a:buNone/>
            </a:pPr>
            <a:r>
              <a:rPr lang="en-US"/>
              <a:t>→  Minority classes are seen more frequently in batches. </a:t>
            </a:r>
          </a:p>
          <a:p>
            <a:pPr marL="596900" lvl="1" indent="0">
              <a:lnSpc>
                <a:spcPct val="150000"/>
              </a:lnSpc>
              <a:buNone/>
            </a:pPr>
            <a:r>
              <a:rPr lang="en-US"/>
              <a:t>→  More stable gradients than Class-Weighted Loss</a:t>
            </a:r>
          </a:p>
        </p:txBody>
      </p:sp>
      <p:sp>
        <p:nvSpPr>
          <p:cNvPr id="406" name="Google Shape;406;p48"/>
          <p:cNvSpPr txBox="1">
            <a:spLocks noGrp="1"/>
          </p:cNvSpPr>
          <p:nvPr>
            <p:ph type="title"/>
          </p:nvPr>
        </p:nvSpPr>
        <p:spPr>
          <a:xfrm>
            <a:off x="716375" y="44288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Custom CNN model 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>
          <a:extLst>
            <a:ext uri="{FF2B5EF4-FFF2-40B4-BE49-F238E27FC236}">
              <a16:creationId xmlns:a16="http://schemas.microsoft.com/office/drawing/2014/main" id="{63F80F42-C8B4-E45F-88BC-0F2DCF31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8">
            <a:extLst>
              <a:ext uri="{FF2B5EF4-FFF2-40B4-BE49-F238E27FC236}">
                <a16:creationId xmlns:a16="http://schemas.microsoft.com/office/drawing/2014/main" id="{FE62E8AC-EAD5-1B37-2557-FF770C098E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125" y="327402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Custom CNN model  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9791A-4306-4A8E-90ED-A256C6161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9263" y="999821"/>
            <a:ext cx="7765473" cy="3532766"/>
          </a:xfrm>
        </p:spPr>
        <p:txBody>
          <a:bodyPr/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1600" b="1"/>
              <a:t>Architecture:</a:t>
            </a:r>
          </a:p>
          <a:p>
            <a:pPr>
              <a:lnSpc>
                <a:spcPct val="150000"/>
              </a:lnSpc>
            </a:pPr>
            <a:r>
              <a:rPr lang="en-US"/>
              <a:t>Spatial size ↓ (48 → 24 → 12 → 6)</a:t>
            </a:r>
          </a:p>
          <a:p>
            <a:pPr>
              <a:lnSpc>
                <a:spcPct val="150000"/>
              </a:lnSpc>
            </a:pPr>
            <a:r>
              <a:rPr lang="en-US"/>
              <a:t>Channel depth ↑ (1 → 32 → 64 → 128 → 256)</a:t>
            </a:r>
          </a:p>
          <a:p>
            <a:pPr>
              <a:lnSpc>
                <a:spcPct val="150000"/>
              </a:lnSpc>
            </a:pPr>
            <a:r>
              <a:rPr lang="en-US"/>
              <a:t>Final classification via Global Average Pooling + Fully Connected layer</a:t>
            </a:r>
            <a:endParaRPr lang="en-US" b="1"/>
          </a:p>
          <a:p>
            <a:pPr marL="114300" indent="0">
              <a:lnSpc>
                <a:spcPct val="150000"/>
              </a:lnSpc>
              <a:buNone/>
            </a:pPr>
            <a:r>
              <a:rPr lang="en-US" sz="1600" b="1"/>
              <a:t>Key Components:</a:t>
            </a:r>
          </a:p>
          <a:p>
            <a:pPr>
              <a:lnSpc>
                <a:spcPct val="150000"/>
              </a:lnSpc>
            </a:pPr>
            <a:r>
              <a:rPr lang="en-US" b="1"/>
              <a:t>Blocks 1-3: </a:t>
            </a:r>
            <a:r>
              <a:rPr lang="en-US"/>
              <a:t>Conv2D + </a:t>
            </a:r>
            <a:r>
              <a:rPr lang="en-US" err="1"/>
              <a:t>BatchNorm</a:t>
            </a:r>
            <a:r>
              <a:rPr lang="en-US"/>
              <a:t> + </a:t>
            </a:r>
            <a:r>
              <a:rPr lang="en-US" err="1"/>
              <a:t>ReLU</a:t>
            </a:r>
            <a:r>
              <a:rPr lang="en-US"/>
              <a:t> + </a:t>
            </a:r>
            <a:r>
              <a:rPr lang="en-US" err="1"/>
              <a:t>MaxPool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b="1"/>
              <a:t>Block 4: </a:t>
            </a:r>
            <a:r>
              <a:rPr lang="en-US"/>
              <a:t>Deep semantic extraction with Dropout to prevent overfitting</a:t>
            </a:r>
          </a:p>
          <a:p>
            <a:pPr>
              <a:lnSpc>
                <a:spcPct val="150000"/>
              </a:lnSpc>
            </a:pPr>
            <a:r>
              <a:rPr lang="en-US" b="1"/>
              <a:t>Classification: </a:t>
            </a:r>
            <a:r>
              <a:rPr lang="en-US"/>
              <a:t>Used Global Average Pooling (GAP) instead of flattening</a:t>
            </a:r>
            <a:endParaRPr lang="en-US" b="1"/>
          </a:p>
          <a:p>
            <a:pPr marL="114300" indent="0">
              <a:lnSpc>
                <a:spcPct val="150000"/>
              </a:lnSpc>
              <a:buNone/>
            </a:pPr>
            <a:r>
              <a:rPr lang="en-US" sz="1600" b="1"/>
              <a:t>Advantage:</a:t>
            </a:r>
            <a:r>
              <a:rPr lang="en-US" sz="1600"/>
              <a:t> </a:t>
            </a:r>
            <a:r>
              <a:rPr lang="en-US"/>
              <a:t>GAP reduces parameters significantly (only ~0.58M total params), minimizing overfitting risks</a:t>
            </a:r>
          </a:p>
          <a:p>
            <a:pPr marL="114300" indent="0">
              <a:lnSpc>
                <a:spcPct val="150000"/>
              </a:lnSpc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4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>
          <a:extLst>
            <a:ext uri="{FF2B5EF4-FFF2-40B4-BE49-F238E27FC236}">
              <a16:creationId xmlns:a16="http://schemas.microsoft.com/office/drawing/2014/main" id="{AD6C1FA8-E4E5-BBC9-7B11-F0F4FD49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8">
            <a:extLst>
              <a:ext uri="{FF2B5EF4-FFF2-40B4-BE49-F238E27FC236}">
                <a16:creationId xmlns:a16="http://schemas.microsoft.com/office/drawing/2014/main" id="{1BDF0A98-DBF3-B5CB-3321-95E8220492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125" y="327402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Custom CNN model </a:t>
            </a:r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ACCAB1-4E9F-60E3-DB0B-1E188AAF0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69112"/>
              </p:ext>
            </p:extLst>
          </p:nvPr>
        </p:nvGraphicFramePr>
        <p:xfrm>
          <a:off x="522828" y="1300723"/>
          <a:ext cx="8098344" cy="2966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74805">
                  <a:extLst>
                    <a:ext uri="{9D8B030D-6E8A-4147-A177-3AD203B41FA5}">
                      <a16:colId xmlns:a16="http://schemas.microsoft.com/office/drawing/2014/main" val="1626877424"/>
                    </a:ext>
                  </a:extLst>
                </a:gridCol>
                <a:gridCol w="2974367">
                  <a:extLst>
                    <a:ext uri="{9D8B030D-6E8A-4147-A177-3AD203B41FA5}">
                      <a16:colId xmlns:a16="http://schemas.microsoft.com/office/drawing/2014/main" val="3578044910"/>
                    </a:ext>
                  </a:extLst>
                </a:gridCol>
                <a:gridCol w="2024586">
                  <a:extLst>
                    <a:ext uri="{9D8B030D-6E8A-4147-A177-3AD203B41FA5}">
                      <a16:colId xmlns:a16="http://schemas.microsoft.com/office/drawing/2014/main" val="286957817"/>
                    </a:ext>
                  </a:extLst>
                </a:gridCol>
                <a:gridCol w="2024586">
                  <a:extLst>
                    <a:ext uri="{9D8B030D-6E8A-4147-A177-3AD203B41FA5}">
                      <a16:colId xmlns:a16="http://schemas.microsoft.com/office/drawing/2014/main" val="19890636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Block</a:t>
                      </a:r>
                      <a:endParaRPr lang="en-US" sz="1400" b="1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Layers</a:t>
                      </a:r>
                      <a:endParaRPr lang="en-US" sz="1400" b="1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Output Shape</a:t>
                      </a:r>
                      <a:endParaRPr lang="en-US" sz="1400" b="1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Parameters</a:t>
                      </a:r>
                      <a:endParaRPr lang="en-US" sz="1400" b="1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1000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 x 48 x 48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222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Block 1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 × Conv + BN + </a:t>
                      </a:r>
                      <a:r>
                        <a:rPr lang="en-US" sz="140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ReLU</a:t>
                      </a:r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+ </a:t>
                      </a:r>
                      <a:r>
                        <a:rPr lang="en-US" sz="140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MaxPool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32 × 24 × 24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9.7K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75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Block 2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 × Conv + BN + </a:t>
                      </a:r>
                      <a:r>
                        <a:rPr lang="en-US" sz="140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ReLU</a:t>
                      </a:r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+ </a:t>
                      </a:r>
                      <a:r>
                        <a:rPr lang="en-US" sz="140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MaxPool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64 x 12 x 12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55.7K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811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Block 3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 × Conv + BN + </a:t>
                      </a:r>
                      <a:r>
                        <a:rPr lang="en-US" sz="140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ReLU</a:t>
                      </a:r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+ </a:t>
                      </a:r>
                      <a:r>
                        <a:rPr lang="en-US" sz="140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MaxPool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128 x 6 x 6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221.7K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734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Block 4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Conv + BN + </a:t>
                      </a:r>
                      <a:r>
                        <a:rPr lang="en-US" sz="140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ReLU</a:t>
                      </a:r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+ Dropout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256 x 6 x 6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295.7K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674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GAP + FC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Global Avg Pool + Linear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1.8K</a:t>
                      </a:r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72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400" b="1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584.807K</a:t>
                      </a:r>
                      <a:endParaRPr lang="en-US" sz="1400" b="1">
                        <a:ln>
                          <a:noFill/>
                        </a:ln>
                        <a:solidFill>
                          <a:schemeClr val="tx1"/>
                        </a:solidFill>
                        <a:latin typeface="Commissioner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395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004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>
          <a:extLst>
            <a:ext uri="{FF2B5EF4-FFF2-40B4-BE49-F238E27FC236}">
              <a16:creationId xmlns:a16="http://schemas.microsoft.com/office/drawing/2014/main" id="{18E8A76F-2C7A-E58B-1033-5F406D675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8">
            <a:extLst>
              <a:ext uri="{FF2B5EF4-FFF2-40B4-BE49-F238E27FC236}">
                <a16:creationId xmlns:a16="http://schemas.microsoft.com/office/drawing/2014/main" id="{CE7BAE30-59BF-D45C-2FDF-06897ABEC4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125" y="327402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Custom CNN model  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28E2A-B31F-489A-9358-464BE55B6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382" y="1289836"/>
            <a:ext cx="7407220" cy="2577423"/>
          </a:xfrm>
        </p:spPr>
        <p:txBody>
          <a:bodyPr/>
          <a:lstStyle/>
          <a:p>
            <a:pPr marL="114300" indent="0">
              <a:lnSpc>
                <a:spcPct val="150000"/>
              </a:lnSpc>
              <a:buNone/>
            </a:pPr>
            <a:r>
              <a:rPr lang="en-US" b="1"/>
              <a:t>Optimizer: </a:t>
            </a:r>
            <a:r>
              <a:rPr lang="en-US" b="1" err="1"/>
              <a:t>AdamW</a:t>
            </a:r>
            <a:endParaRPr lang="en-US" b="1"/>
          </a:p>
          <a:p>
            <a:pPr marL="400050" indent="-285750">
              <a:lnSpc>
                <a:spcPct val="150000"/>
              </a:lnSpc>
              <a:buFont typeface="Calibri"/>
              <a:buChar char="-"/>
            </a:pPr>
            <a:r>
              <a:rPr lang="en-US"/>
              <a:t>An improved variant of the Adam optimizer</a:t>
            </a:r>
          </a:p>
          <a:p>
            <a:pPr marL="400050" indent="-285750">
              <a:lnSpc>
                <a:spcPct val="150000"/>
              </a:lnSpc>
              <a:buFont typeface="Calibri"/>
              <a:buChar char="-"/>
            </a:pPr>
            <a:endParaRPr lang="en-US"/>
          </a:p>
          <a:p>
            <a:pPr marL="114300" indent="0">
              <a:lnSpc>
                <a:spcPct val="150000"/>
              </a:lnSpc>
              <a:buNone/>
            </a:pPr>
            <a:r>
              <a:rPr lang="en-US" b="1" u="sng"/>
              <a:t>Advantages:</a:t>
            </a:r>
          </a:p>
          <a:p>
            <a:pPr marL="400050" indent="-285750">
              <a:lnSpc>
                <a:spcPct val="150000"/>
              </a:lnSpc>
              <a:buFont typeface="Calibri"/>
              <a:buChar char="-"/>
            </a:pPr>
            <a:r>
              <a:rPr lang="en-US"/>
              <a:t>Decoupled weight decay</a:t>
            </a:r>
          </a:p>
          <a:p>
            <a:pPr marL="400050" indent="-285750">
              <a:lnSpc>
                <a:spcPct val="150000"/>
              </a:lnSpc>
              <a:buFont typeface="Calibri"/>
              <a:buChar char="-"/>
            </a:pPr>
            <a:r>
              <a:rPr lang="en-US"/>
              <a:t>Better generalization</a:t>
            </a:r>
          </a:p>
          <a:p>
            <a:pPr marL="400050" indent="-285750">
              <a:lnSpc>
                <a:spcPct val="150000"/>
              </a:lnSpc>
              <a:buFont typeface="Calibri"/>
              <a:buChar char="-"/>
            </a:pPr>
            <a:r>
              <a:rPr lang="en-US"/>
              <a:t>Converges faster in early training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8884663-4CFB-1CA6-6372-61230725C52A}"/>
              </a:ext>
            </a:extLst>
          </p:cNvPr>
          <p:cNvGrpSpPr/>
          <p:nvPr/>
        </p:nvGrpSpPr>
        <p:grpSpPr>
          <a:xfrm>
            <a:off x="5307827" y="997991"/>
            <a:ext cx="2823395" cy="3384219"/>
            <a:chOff x="5776968" y="997991"/>
            <a:chExt cx="2362784" cy="2846839"/>
          </a:xfrm>
        </p:grpSpPr>
        <p:pic>
          <p:nvPicPr>
            <p:cNvPr id="7" name="Picture 6" descr="A math equations and formulas&#10;&#10;AI-generated content may be incorrect.">
              <a:extLst>
                <a:ext uri="{FF2B5EF4-FFF2-40B4-BE49-F238E27FC236}">
                  <a16:creationId xmlns:a16="http://schemas.microsoft.com/office/drawing/2014/main" id="{D5266FF6-27DF-9997-4CD7-AA6CE5493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6968" y="997991"/>
              <a:ext cx="2349722" cy="201304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58D5032-7CE9-5068-754B-A4FFEA4B0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80964" y="3200826"/>
              <a:ext cx="2358788" cy="6440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9062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>
          <a:extLst>
            <a:ext uri="{FF2B5EF4-FFF2-40B4-BE49-F238E27FC236}">
              <a16:creationId xmlns:a16="http://schemas.microsoft.com/office/drawing/2014/main" id="{F9ADFB45-A312-616E-88F4-37190099E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E8E5941-7732-1E36-12F7-938F42A5D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375" y="1015585"/>
            <a:ext cx="6709200" cy="572700"/>
          </a:xfrm>
        </p:spPr>
        <p:txBody>
          <a:bodyPr/>
          <a:lstStyle/>
          <a:p>
            <a:pPr marL="114300" indent="0">
              <a:buNone/>
            </a:pPr>
            <a:r>
              <a:rPr lang="en-US"/>
              <a:t>Using a ResNet18 model pre-trained on the ImageNet dataset </a:t>
            </a:r>
            <a:br>
              <a:rPr lang="en-US"/>
            </a:br>
            <a:endParaRPr lang="en-US"/>
          </a:p>
        </p:txBody>
      </p:sp>
      <p:sp>
        <p:nvSpPr>
          <p:cNvPr id="406" name="Google Shape;406;p48">
            <a:extLst>
              <a:ext uri="{FF2B5EF4-FFF2-40B4-BE49-F238E27FC236}">
                <a16:creationId xmlns:a16="http://schemas.microsoft.com/office/drawing/2014/main" id="{0AD8BD81-1B7A-4492-8926-9B4A9DAEF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Transfer Learning (ResNet18)</a:t>
            </a: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28032F-E975-25BF-641E-3B210ED3F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728" y="1588285"/>
            <a:ext cx="6144544" cy="330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600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>
          <a:extLst>
            <a:ext uri="{FF2B5EF4-FFF2-40B4-BE49-F238E27FC236}">
              <a16:creationId xmlns:a16="http://schemas.microsoft.com/office/drawing/2014/main" id="{548253F4-9D46-7C44-CA5A-03B682401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D262B75-FD89-FA0B-F0DC-2E88BC70CAF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16375" y="1256005"/>
            <a:ext cx="7466340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>
                <a:solidFill>
                  <a:schemeClr val="tx1"/>
                </a:solidFill>
                <a:effectLst/>
                <a:latin typeface="Commissioner" panose="020B0604020202020204" charset="0"/>
              </a:rPr>
              <a:t>Input Adaptation (Crucial Step):</a:t>
            </a:r>
            <a:endParaRPr kumimoji="0" lang="en-US" altLang="en-US" b="0" i="0" u="none" strike="noStrike" cap="none" normalizeH="0" baseline="0">
              <a:solidFill>
                <a:schemeClr val="tx1"/>
              </a:solidFill>
              <a:effectLst/>
              <a:latin typeface="Commissioner" panose="020B0604020202020204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>
                <a:solidFill>
                  <a:schemeClr val="tx1"/>
                </a:solidFill>
                <a:effectLst/>
                <a:latin typeface="Commissioner" panose="020B0604020202020204" charset="0"/>
              </a:rPr>
              <a:t>FER-2013 images (48</a:t>
            </a:r>
            <a:r>
              <a:rPr lang="en-US" altLang="en-US">
                <a:solidFill>
                  <a:schemeClr val="tx1"/>
                </a:solidFill>
                <a:latin typeface="Commissioner" panose="020B0604020202020204" charset="0"/>
              </a:rPr>
              <a:t>x</a:t>
            </a:r>
            <a:r>
              <a:rPr kumimoji="0" lang="en-US" altLang="en-US" b="0" i="0" u="none" strike="noStrike" cap="none" normalizeH="0" baseline="0">
                <a:solidFill>
                  <a:schemeClr val="tx1"/>
                </a:solidFill>
                <a:effectLst/>
                <a:latin typeface="Commissioner" panose="020B0604020202020204" charset="0"/>
              </a:rPr>
              <a:t>48 grayscale) were resized to 224x224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>
                <a:solidFill>
                  <a:schemeClr val="tx1"/>
                </a:solidFill>
                <a:effectLst/>
                <a:latin typeface="Commissioner" panose="020B0604020202020204" charset="0"/>
              </a:rPr>
              <a:t>Converted to 3-channel RGB (duplicated channels) to match ImageNet pre-training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>
                <a:solidFill>
                  <a:schemeClr val="tx1"/>
                </a:solidFill>
                <a:effectLst/>
                <a:latin typeface="Commissioner" panose="020B0604020202020204" charset="0"/>
              </a:rPr>
              <a:t>Normalized using ImageNet mean/std statistics </a:t>
            </a:r>
          </a:p>
          <a:p>
            <a:pPr marL="914400" lvl="2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i="1"/>
              <a:t>mean </a:t>
            </a:r>
            <a:r>
              <a:rPr lang="en-US"/>
              <a:t>= (0</a:t>
            </a:r>
            <a:r>
              <a:rPr lang="en-US" i="1"/>
              <a:t>.</a:t>
            </a:r>
            <a:r>
              <a:rPr lang="en-US"/>
              <a:t>485</a:t>
            </a:r>
            <a:r>
              <a:rPr lang="en-US" i="1"/>
              <a:t>, </a:t>
            </a:r>
            <a:r>
              <a:rPr lang="en-US"/>
              <a:t>0</a:t>
            </a:r>
            <a:r>
              <a:rPr lang="en-US" i="1"/>
              <a:t>.</a:t>
            </a:r>
            <a:r>
              <a:rPr lang="en-US"/>
              <a:t>456</a:t>
            </a:r>
            <a:r>
              <a:rPr lang="en-US" i="1"/>
              <a:t>, </a:t>
            </a:r>
            <a:r>
              <a:rPr lang="en-US"/>
              <a:t>0</a:t>
            </a:r>
            <a:r>
              <a:rPr lang="en-US" i="1"/>
              <a:t>.</a:t>
            </a:r>
            <a:r>
              <a:rPr lang="en-US"/>
              <a:t>406)</a:t>
            </a:r>
            <a:r>
              <a:rPr lang="en-US" i="1"/>
              <a:t>, std </a:t>
            </a:r>
            <a:r>
              <a:rPr lang="en-US"/>
              <a:t>= (0</a:t>
            </a:r>
            <a:r>
              <a:rPr lang="en-US" i="1"/>
              <a:t>.</a:t>
            </a:r>
            <a:r>
              <a:rPr lang="en-US"/>
              <a:t>229</a:t>
            </a:r>
            <a:r>
              <a:rPr lang="en-US" i="1"/>
              <a:t>, </a:t>
            </a:r>
            <a:r>
              <a:rPr lang="en-US"/>
              <a:t>0</a:t>
            </a:r>
            <a:r>
              <a:rPr lang="en-US" i="1"/>
              <a:t>.</a:t>
            </a:r>
            <a:r>
              <a:rPr lang="en-US"/>
              <a:t>224</a:t>
            </a:r>
            <a:r>
              <a:rPr lang="en-US" i="1"/>
              <a:t>, </a:t>
            </a:r>
            <a:r>
              <a:rPr lang="en-US"/>
              <a:t>0</a:t>
            </a:r>
            <a:r>
              <a:rPr lang="en-US" i="1"/>
              <a:t>.</a:t>
            </a:r>
            <a:r>
              <a:rPr lang="en-US"/>
              <a:t>225) </a:t>
            </a:r>
            <a:endParaRPr kumimoji="0" lang="en-US" altLang="en-US" b="0" i="0" u="none" strike="noStrike" cap="none" normalizeH="0" baseline="0">
              <a:solidFill>
                <a:schemeClr val="tx1"/>
              </a:solidFill>
              <a:effectLst/>
              <a:latin typeface="Commissioner" panose="020B060402020202020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b="1">
              <a:solidFill>
                <a:schemeClr val="tx1"/>
              </a:solidFill>
            </a:endParaRPr>
          </a:p>
          <a:p>
            <a:pPr marL="0" marR="0" lvl="0" indent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>
                <a:solidFill>
                  <a:schemeClr val="tx1"/>
                </a:solidFill>
                <a:effectLst/>
              </a:rPr>
              <a:t>Architecture Modification:</a:t>
            </a:r>
            <a:endParaRPr lang="en-US" altLang="en-US" b="0" i="0" u="none" strike="noStrike" cap="none" normalizeH="0" baseline="0">
              <a:solidFill>
                <a:schemeClr val="tx1"/>
              </a:solidFill>
              <a:effectLst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>
                <a:solidFill>
                  <a:schemeClr val="tx1"/>
                </a:solidFill>
                <a:effectLst/>
                <a:latin typeface="Commissioner" panose="020B0604020202020204" charset="0"/>
              </a:rPr>
              <a:t>Replaced the original fully connected layer with a new head for 7 emotion classes</a:t>
            </a:r>
            <a:endParaRPr lang="en-US" altLang="en-US">
              <a:solidFill>
                <a:schemeClr val="tx1"/>
              </a:solidFill>
              <a:latin typeface="Commissioner" panose="020B0604020202020204" charset="0"/>
            </a:endParaRPr>
          </a:p>
        </p:txBody>
      </p:sp>
      <p:sp>
        <p:nvSpPr>
          <p:cNvPr id="12" name="Google Shape;406;p48">
            <a:extLst>
              <a:ext uri="{FF2B5EF4-FFF2-40B4-BE49-F238E27FC236}">
                <a16:creationId xmlns:a16="http://schemas.microsoft.com/office/drawing/2014/main" id="{850AF636-DE90-E9B2-81C6-173B9F005C57}"/>
              </a:ext>
            </a:extLst>
          </p:cNvPr>
          <p:cNvSpPr txBox="1">
            <a:spLocks/>
          </p:cNvSpPr>
          <p:nvPr/>
        </p:nvSpPr>
        <p:spPr>
          <a:xfrm>
            <a:off x="716375" y="442885"/>
            <a:ext cx="7708500" cy="572700"/>
          </a:xfrm>
          <a:prstGeom prst="rect">
            <a:avLst/>
          </a:prstGeom>
          <a:noFill/>
          <a:ln>
            <a:noFill/>
          </a:ln>
          <a:effectLst>
            <a:outerShdw blurRad="57150" dist="9525" algn="bl" rotWithShape="0">
              <a:schemeClr val="accent1">
                <a:alpha val="6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9pPr>
          </a:lstStyle>
          <a:p>
            <a:r>
              <a:rPr lang="en-US"/>
              <a:t>2. Transfer Learning (ResNet18)</a:t>
            </a:r>
          </a:p>
        </p:txBody>
      </p:sp>
    </p:spTree>
    <p:extLst>
      <p:ext uri="{BB962C8B-B14F-4D97-AF65-F5344CB8AC3E}">
        <p14:creationId xmlns:p14="http://schemas.microsoft.com/office/powerpoint/2010/main" val="2779722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>
          <a:extLst>
            <a:ext uri="{FF2B5EF4-FFF2-40B4-BE49-F238E27FC236}">
              <a16:creationId xmlns:a16="http://schemas.microsoft.com/office/drawing/2014/main" id="{0F26D720-7034-DD7E-BEBB-01D16B67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1578771-6A19-0966-70EA-7CA25F9614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16375" y="1417588"/>
            <a:ext cx="746634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>
                <a:solidFill>
                  <a:schemeClr val="tx1"/>
                </a:solidFill>
                <a:latin typeface="Commissioner" panose="020B0604020202020204" charset="0"/>
              </a:rPr>
              <a:t>Two-Stage Training: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b="1">
                <a:solidFill>
                  <a:schemeClr val="tx1"/>
                </a:solidFill>
                <a:latin typeface="Commissioner" panose="020B0604020202020204" charset="0"/>
              </a:rPr>
              <a:t>Frozen Backbone: </a:t>
            </a:r>
            <a:r>
              <a:rPr lang="en-US" altLang="en-US">
                <a:solidFill>
                  <a:schemeClr val="tx1"/>
                </a:solidFill>
                <a:latin typeface="Commissioner" panose="020B0604020202020204" charset="0"/>
              </a:rPr>
              <a:t>Train only the classification head with a higher learning rate to adapt to new classes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b="1">
                <a:solidFill>
                  <a:schemeClr val="tx1"/>
                </a:solidFill>
                <a:latin typeface="Commissioner" panose="020B0604020202020204" charset="0"/>
              </a:rPr>
              <a:t>Fine-Tuning: </a:t>
            </a:r>
            <a:r>
              <a:rPr lang="en-US" altLang="en-US">
                <a:solidFill>
                  <a:schemeClr val="tx1"/>
                </a:solidFill>
                <a:latin typeface="Commissioner" panose="020B0604020202020204" charset="0"/>
              </a:rPr>
              <a:t>Unfreeze the backbone and train end-to-end with a lower learning rate to adjust deep features without catastrophic forgetting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b="1">
              <a:solidFill>
                <a:schemeClr val="tx1"/>
              </a:solidFill>
            </a:endParaRPr>
          </a:p>
          <a:p>
            <a:pPr marL="0" marR="0" lvl="0" indent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>
                <a:solidFill>
                  <a:schemeClr val="tx1"/>
                </a:solidFill>
              </a:rPr>
              <a:t>Additions: </a:t>
            </a:r>
            <a:r>
              <a:rPr lang="en-US" altLang="en-US">
                <a:solidFill>
                  <a:schemeClr val="tx1"/>
                </a:solidFill>
              </a:rPr>
              <a:t>Used Label Smoothing and Test-Time Augmentation (TTA) for robustness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Google Shape;406;p48">
            <a:extLst>
              <a:ext uri="{FF2B5EF4-FFF2-40B4-BE49-F238E27FC236}">
                <a16:creationId xmlns:a16="http://schemas.microsoft.com/office/drawing/2014/main" id="{AC16625B-BB85-2004-6408-80175DC6A030}"/>
              </a:ext>
            </a:extLst>
          </p:cNvPr>
          <p:cNvSpPr txBox="1">
            <a:spLocks/>
          </p:cNvSpPr>
          <p:nvPr/>
        </p:nvSpPr>
        <p:spPr>
          <a:xfrm>
            <a:off x="716375" y="442885"/>
            <a:ext cx="7708500" cy="572700"/>
          </a:xfrm>
          <a:prstGeom prst="rect">
            <a:avLst/>
          </a:prstGeom>
          <a:noFill/>
          <a:ln>
            <a:noFill/>
          </a:ln>
          <a:effectLst>
            <a:outerShdw blurRad="57150" dist="9525" algn="bl" rotWithShape="0">
              <a:schemeClr val="accent1">
                <a:alpha val="6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9pPr>
          </a:lstStyle>
          <a:p>
            <a:r>
              <a:rPr lang="en-US"/>
              <a:t>2. Transfer Learning (ResNet18)</a:t>
            </a:r>
          </a:p>
        </p:txBody>
      </p:sp>
    </p:spTree>
    <p:extLst>
      <p:ext uri="{BB962C8B-B14F-4D97-AF65-F5344CB8AC3E}">
        <p14:creationId xmlns:p14="http://schemas.microsoft.com/office/powerpoint/2010/main" val="2192831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>
          <a:extLst>
            <a:ext uri="{FF2B5EF4-FFF2-40B4-BE49-F238E27FC236}">
              <a16:creationId xmlns:a16="http://schemas.microsoft.com/office/drawing/2014/main" id="{334D50F9-9582-44E1-5882-D57F5EAAF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5AB143F-25F4-DB87-4E7F-28D822DF859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16375" y="1527022"/>
            <a:ext cx="746634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>
              <a:solidFill>
                <a:schemeClr val="tx1"/>
              </a:solidFill>
              <a:latin typeface="Commissioner" panose="020B0604020202020204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>
                <a:solidFill>
                  <a:schemeClr val="tx1"/>
                </a:solidFill>
                <a:latin typeface="Commissioner" panose="020B0604020202020204" charset="0"/>
              </a:rPr>
              <a:t>Metrics: </a:t>
            </a:r>
            <a:r>
              <a:rPr lang="en-US" altLang="en-US">
                <a:solidFill>
                  <a:schemeClr val="tx1"/>
                </a:solidFill>
                <a:latin typeface="Commissioner" panose="020B0604020202020204" charset="0"/>
              </a:rPr>
              <a:t>Accuracy, Precision, Recall, F1-Score, and Confusion Matrix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>
                <a:solidFill>
                  <a:schemeClr val="tx1"/>
                </a:solidFill>
                <a:latin typeface="Commissioner" panose="020B0604020202020204" charset="0"/>
              </a:rPr>
              <a:t>Macro-Averaging: </a:t>
            </a:r>
            <a:r>
              <a:rPr lang="en-US" altLang="en-US">
                <a:solidFill>
                  <a:schemeClr val="tx1"/>
                </a:solidFill>
                <a:latin typeface="Commissioner" panose="020B0604020202020204" charset="0"/>
              </a:rPr>
              <a:t>Used to ensure minority classes (like Disgust) are weighted equally in evaluation</a:t>
            </a:r>
          </a:p>
        </p:txBody>
      </p:sp>
      <p:sp>
        <p:nvSpPr>
          <p:cNvPr id="12" name="Google Shape;406;p48">
            <a:extLst>
              <a:ext uri="{FF2B5EF4-FFF2-40B4-BE49-F238E27FC236}">
                <a16:creationId xmlns:a16="http://schemas.microsoft.com/office/drawing/2014/main" id="{41694976-1F86-EE0B-9568-5EECB76C515F}"/>
              </a:ext>
            </a:extLst>
          </p:cNvPr>
          <p:cNvSpPr txBox="1">
            <a:spLocks/>
          </p:cNvSpPr>
          <p:nvPr/>
        </p:nvSpPr>
        <p:spPr>
          <a:xfrm>
            <a:off x="716375" y="442885"/>
            <a:ext cx="7708500" cy="572700"/>
          </a:xfrm>
          <a:prstGeom prst="rect">
            <a:avLst/>
          </a:prstGeom>
          <a:noFill/>
          <a:ln>
            <a:noFill/>
          </a:ln>
          <a:effectLst>
            <a:outerShdw blurRad="57150" dist="9525" algn="bl" rotWithShape="0">
              <a:schemeClr val="accent1">
                <a:alpha val="6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exandria SemiBold"/>
              <a:buNone/>
              <a:defRPr sz="2600" b="0" i="0" u="none" strike="noStrike" cap="none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9pPr>
          </a:lstStyle>
          <a:p>
            <a:r>
              <a:rPr lang="en-US"/>
              <a:t>Experimental Setup</a:t>
            </a:r>
          </a:p>
        </p:txBody>
      </p:sp>
    </p:spTree>
    <p:extLst>
      <p:ext uri="{BB962C8B-B14F-4D97-AF65-F5344CB8AC3E}">
        <p14:creationId xmlns:p14="http://schemas.microsoft.com/office/powerpoint/2010/main" val="2843672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7F7EB1AA-9FDE-60E1-882A-74B4E772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>
            <a:extLst>
              <a:ext uri="{FF2B5EF4-FFF2-40B4-BE49-F238E27FC236}">
                <a16:creationId xmlns:a16="http://schemas.microsoft.com/office/drawing/2014/main" id="{C6AADA92-112F-4D75-15C0-1D08E1608B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3762" y="2416900"/>
            <a:ext cx="4227099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274" name="Google Shape;274;p36">
            <a:extLst>
              <a:ext uri="{FF2B5EF4-FFF2-40B4-BE49-F238E27FC236}">
                <a16:creationId xmlns:a16="http://schemas.microsoft.com/office/drawing/2014/main" id="{BB10A135-5869-AF9C-A28F-237979EB6A4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93762" y="854000"/>
            <a:ext cx="821747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276" name="Google Shape;276;p36">
            <a:extLst>
              <a:ext uri="{FF2B5EF4-FFF2-40B4-BE49-F238E27FC236}">
                <a16:creationId xmlns:a16="http://schemas.microsoft.com/office/drawing/2014/main" id="{88BD2CB0-0440-40C6-19A7-F0E7A24A52AF}"/>
              </a:ext>
            </a:extLst>
          </p:cNvPr>
          <p:cNvCxnSpPr>
            <a:cxnSpLocks/>
          </p:cNvCxnSpPr>
          <p:nvPr/>
        </p:nvCxnSpPr>
        <p:spPr>
          <a:xfrm>
            <a:off x="1185749" y="3258696"/>
            <a:ext cx="3890748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chemeClr val="lt2">
                <a:alpha val="50000"/>
              </a:schemeClr>
            </a:outerShdw>
          </a:effectLst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DD52FE88-48AF-DF51-0BC8-A00FA8A51D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21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C4B15-9A68-EF20-0992-D8C288EC6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00" y="145446"/>
            <a:ext cx="7711200" cy="572700"/>
          </a:xfrm>
        </p:spPr>
        <p:txBody>
          <a:bodyPr/>
          <a:lstStyle/>
          <a:p>
            <a:r>
              <a:rPr lang="en-US" b="1"/>
              <a:t>Group’s CNN Model’s result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25854F-8E7B-E76C-D279-728C49CF8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960182"/>
              </p:ext>
            </p:extLst>
          </p:nvPr>
        </p:nvGraphicFramePr>
        <p:xfrm>
          <a:off x="233135" y="938418"/>
          <a:ext cx="4510864" cy="376469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00690">
                  <a:extLst>
                    <a:ext uri="{9D8B030D-6E8A-4147-A177-3AD203B41FA5}">
                      <a16:colId xmlns:a16="http://schemas.microsoft.com/office/drawing/2014/main" val="1626877424"/>
                    </a:ext>
                  </a:extLst>
                </a:gridCol>
                <a:gridCol w="889540">
                  <a:extLst>
                    <a:ext uri="{9D8B030D-6E8A-4147-A177-3AD203B41FA5}">
                      <a16:colId xmlns:a16="http://schemas.microsoft.com/office/drawing/2014/main" val="981409424"/>
                    </a:ext>
                  </a:extLst>
                </a:gridCol>
                <a:gridCol w="746665">
                  <a:extLst>
                    <a:ext uri="{9D8B030D-6E8A-4147-A177-3AD203B41FA5}">
                      <a16:colId xmlns:a16="http://schemas.microsoft.com/office/drawing/2014/main" val="3578044910"/>
                    </a:ext>
                  </a:extLst>
                </a:gridCol>
                <a:gridCol w="835565">
                  <a:extLst>
                    <a:ext uri="{9D8B030D-6E8A-4147-A177-3AD203B41FA5}">
                      <a16:colId xmlns:a16="http://schemas.microsoft.com/office/drawing/2014/main" val="286957817"/>
                    </a:ext>
                  </a:extLst>
                </a:gridCol>
                <a:gridCol w="838404">
                  <a:extLst>
                    <a:ext uri="{9D8B030D-6E8A-4147-A177-3AD203B41FA5}">
                      <a16:colId xmlns:a16="http://schemas.microsoft.com/office/drawing/2014/main" val="1989063661"/>
                    </a:ext>
                  </a:extLst>
                </a:gridCol>
              </a:tblGrid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Class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Precision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Recall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F1-score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Support</a:t>
                      </a:r>
                    </a:p>
                  </a:txBody>
                  <a:tcPr marL="101076" marR="101076" marT="67384" marB="67384" anchor="ctr"/>
                </a:tc>
                <a:extLst>
                  <a:ext uri="{0D108BD9-81ED-4DB2-BD59-A6C34878D82A}">
                    <a16:rowId xmlns:a16="http://schemas.microsoft.com/office/drawing/2014/main" val="1481000899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Angry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0.6021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0.5947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0.5984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491</a:t>
                      </a:r>
                    </a:p>
                  </a:txBody>
                  <a:tcPr marL="101076" marR="101076" marT="67384" marB="67384" anchor="ctr"/>
                </a:tc>
                <a:extLst>
                  <a:ext uri="{0D108BD9-81ED-4DB2-BD59-A6C34878D82A}">
                    <a16:rowId xmlns:a16="http://schemas.microsoft.com/office/drawing/2014/main" val="2241576772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Disgust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i="0" u="none" strike="noStrike" cap="none" spc="0">
                          <a:ln w="0"/>
                          <a:solidFill>
                            <a:srgbClr val="FFC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/>
                          <a:ea typeface="+mn-ea"/>
                          <a:cs typeface="+mn-cs"/>
                          <a:sym typeface="Arial"/>
                        </a:rPr>
                        <a:t>0.8182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0.6545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0.7273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55</a:t>
                      </a:r>
                    </a:p>
                  </a:txBody>
                  <a:tcPr marL="101076" marR="101076" marT="67384" marB="67384" anchor="ctr"/>
                </a:tc>
                <a:extLst>
                  <a:ext uri="{0D108BD9-81ED-4DB2-BD59-A6C34878D82A}">
                    <a16:rowId xmlns:a16="http://schemas.microsoft.com/office/drawing/2014/main" val="4289744611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Fear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0.5474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0.4261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0.4792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528</a:t>
                      </a:r>
                    </a:p>
                  </a:txBody>
                  <a:tcPr marL="101076" marR="101076" marT="67384" marB="67384" anchor="ctr"/>
                </a:tc>
                <a:extLst>
                  <a:ext uri="{0D108BD9-81ED-4DB2-BD59-A6C34878D82A}">
                    <a16:rowId xmlns:a16="http://schemas.microsoft.com/office/drawing/2014/main" val="3063932245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Happy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i="0" u="none" strike="noStrike" cap="none" spc="0">
                          <a:ln w="0"/>
                          <a:solidFill>
                            <a:srgbClr val="FFC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/>
                          <a:ea typeface="+mn-ea"/>
                          <a:cs typeface="+mn-cs"/>
                          <a:sym typeface="Arial"/>
                        </a:rPr>
                        <a:t>0.8657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spc="0">
                          <a:ln w="0"/>
                          <a:solidFill>
                            <a:srgbClr val="FFC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/>
                          <a:ea typeface="+mn-ea"/>
                          <a:cs typeface="+mn-cs"/>
                          <a:sym typeface="Arial"/>
                        </a:rPr>
                        <a:t>0.8874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spc="0">
                          <a:ln w="0"/>
                          <a:solidFill>
                            <a:srgbClr val="FFC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/>
                          <a:ea typeface="+mn-ea"/>
                          <a:cs typeface="+mn-cs"/>
                          <a:sym typeface="Arial"/>
                        </a:rPr>
                        <a:t>0.8764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879</a:t>
                      </a:r>
                    </a:p>
                  </a:txBody>
                  <a:tcPr marL="101076" marR="101076" marT="67384" marB="67384" anchor="ctr"/>
                </a:tc>
                <a:extLst>
                  <a:ext uri="{0D108BD9-81ED-4DB2-BD59-A6C34878D82A}">
                    <a16:rowId xmlns:a16="http://schemas.microsoft.com/office/drawing/2014/main" val="146222532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Sad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0.5292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0.5640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0.5460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594</a:t>
                      </a:r>
                    </a:p>
                  </a:txBody>
                  <a:tcPr marL="101076" marR="101076" marT="67384" marB="67384" anchor="ctr"/>
                </a:tc>
                <a:extLst>
                  <a:ext uri="{0D108BD9-81ED-4DB2-BD59-A6C34878D82A}">
                    <a16:rowId xmlns:a16="http://schemas.microsoft.com/office/drawing/2014/main" val="169475893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Surprise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i="0" u="none" strike="noStrike" cap="none" spc="0">
                          <a:ln w="0"/>
                          <a:solidFill>
                            <a:srgbClr val="FFC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/>
                          <a:ea typeface="+mn-ea"/>
                          <a:cs typeface="+mn-cs"/>
                          <a:sym typeface="Arial"/>
                        </a:rPr>
                        <a:t>0.8038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i="0" u="none" strike="noStrike" cap="none" spc="0">
                          <a:ln w="0"/>
                          <a:solidFill>
                            <a:srgbClr val="FFC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/>
                          <a:ea typeface="+mn-ea"/>
                          <a:cs typeface="+mn-cs"/>
                          <a:sym typeface="Arial"/>
                        </a:rPr>
                        <a:t>0.8077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i="0" u="none" strike="noStrike" cap="none" spc="0">
                          <a:ln w="0"/>
                          <a:solidFill>
                            <a:srgbClr val="FFC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/>
                          <a:ea typeface="+mn-ea"/>
                          <a:cs typeface="+mn-cs"/>
                          <a:sym typeface="Arial"/>
                        </a:rPr>
                        <a:t>0.8058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416</a:t>
                      </a:r>
                    </a:p>
                  </a:txBody>
                  <a:tcPr marL="101076" marR="101076" marT="67384" marB="67384" anchor="ctr"/>
                </a:tc>
                <a:extLst>
                  <a:ext uri="{0D108BD9-81ED-4DB2-BD59-A6C34878D82A}">
                    <a16:rowId xmlns:a16="http://schemas.microsoft.com/office/drawing/2014/main" val="3687811687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Neutral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0.6385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0.7109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0.6727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626</a:t>
                      </a:r>
                    </a:p>
                  </a:txBody>
                  <a:tcPr marL="101076" marR="101076" marT="67384" marB="67384" anchor="ctr"/>
                </a:tc>
                <a:extLst>
                  <a:ext uri="{0D108BD9-81ED-4DB2-BD59-A6C34878D82A}">
                    <a16:rowId xmlns:a16="http://schemas.microsoft.com/office/drawing/2014/main" val="2454734138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Accuracy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endParaRPr lang="en-US" sz="12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ommissioner" panose="020B0604020202020204" charset="0"/>
                      </a:endParaRP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ommissioner" panose="020B0604020202020204" charset="0"/>
                      </a:endParaRP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cap="none" spc="0">
                          <a:ln w="0"/>
                          <a:solidFill>
                            <a:srgbClr val="FFC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/>
                        </a:rPr>
                        <a:t>0.6824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3589</a:t>
                      </a:r>
                    </a:p>
                  </a:txBody>
                  <a:tcPr marL="101076" marR="101076" marT="67384" marB="67384" anchor="ctr"/>
                </a:tc>
                <a:extLst>
                  <a:ext uri="{0D108BD9-81ED-4DB2-BD59-A6C34878D82A}">
                    <a16:rowId xmlns:a16="http://schemas.microsoft.com/office/drawing/2014/main" val="137674004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Macro Avg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0.6864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0.6636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0.6723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3589</a:t>
                      </a:r>
                    </a:p>
                  </a:txBody>
                  <a:tcPr marL="101076" marR="101076" marT="67384" marB="67384" anchor="ctr"/>
                </a:tc>
                <a:extLst>
                  <a:ext uri="{0D108BD9-81ED-4DB2-BD59-A6C34878D82A}">
                    <a16:rowId xmlns:a16="http://schemas.microsoft.com/office/drawing/2014/main" val="2818722687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Weighted Avg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0.6796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0.6824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0.6793</a:t>
                      </a:r>
                    </a:p>
                  </a:txBody>
                  <a:tcPr marL="101076" marR="101076" marT="67384" marB="6738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 panose="020B0604020202020204" charset="0"/>
                        </a:rPr>
                        <a:t>3589</a:t>
                      </a:r>
                    </a:p>
                  </a:txBody>
                  <a:tcPr marL="101076" marR="101076" marT="67384" marB="67384" anchor="ctr"/>
                </a:tc>
                <a:extLst>
                  <a:ext uri="{0D108BD9-81ED-4DB2-BD59-A6C34878D82A}">
                    <a16:rowId xmlns:a16="http://schemas.microsoft.com/office/drawing/2014/main" val="103639590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41AED6AB-0938-F17C-F09D-68A8FCA6E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934" y="1186067"/>
            <a:ext cx="3881284" cy="326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12375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71839-71D6-A3BC-80B8-DF765228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CE9DE-70B3-D5F4-757D-F85AA8DF4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00" y="145446"/>
            <a:ext cx="7711200" cy="572700"/>
          </a:xfrm>
        </p:spPr>
        <p:txBody>
          <a:bodyPr/>
          <a:lstStyle/>
          <a:p>
            <a:r>
              <a:rPr lang="en-US" b="1"/>
              <a:t>ResNet18’s result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67B62D0-E452-72FD-4C77-B62AC6E70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71110"/>
              </p:ext>
            </p:extLst>
          </p:nvPr>
        </p:nvGraphicFramePr>
        <p:xfrm>
          <a:off x="190498" y="938418"/>
          <a:ext cx="4695609" cy="376469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27138">
                  <a:extLst>
                    <a:ext uri="{9D8B030D-6E8A-4147-A177-3AD203B41FA5}">
                      <a16:colId xmlns:a16="http://schemas.microsoft.com/office/drawing/2014/main" val="1626877424"/>
                    </a:ext>
                  </a:extLst>
                </a:gridCol>
                <a:gridCol w="915988">
                  <a:extLst>
                    <a:ext uri="{9D8B030D-6E8A-4147-A177-3AD203B41FA5}">
                      <a16:colId xmlns:a16="http://schemas.microsoft.com/office/drawing/2014/main" val="981409424"/>
                    </a:ext>
                  </a:extLst>
                </a:gridCol>
                <a:gridCol w="776288">
                  <a:extLst>
                    <a:ext uri="{9D8B030D-6E8A-4147-A177-3AD203B41FA5}">
                      <a16:colId xmlns:a16="http://schemas.microsoft.com/office/drawing/2014/main" val="3578044910"/>
                    </a:ext>
                  </a:extLst>
                </a:gridCol>
                <a:gridCol w="862013">
                  <a:extLst>
                    <a:ext uri="{9D8B030D-6E8A-4147-A177-3AD203B41FA5}">
                      <a16:colId xmlns:a16="http://schemas.microsoft.com/office/drawing/2014/main" val="286957817"/>
                    </a:ext>
                  </a:extLst>
                </a:gridCol>
                <a:gridCol w="914182">
                  <a:extLst>
                    <a:ext uri="{9D8B030D-6E8A-4147-A177-3AD203B41FA5}">
                      <a16:colId xmlns:a16="http://schemas.microsoft.com/office/drawing/2014/main" val="1989063661"/>
                    </a:ext>
                  </a:extLst>
                </a:gridCol>
              </a:tblGrid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Class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Precision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Recall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F1-score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Support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81000899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Angry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0.6267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0.6210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0.6223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467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41576772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Disgust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i="0" u="none" strike="noStrike" cap="none" spc="0">
                          <a:ln w="0"/>
                          <a:solidFill>
                            <a:srgbClr val="FFC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/>
                          <a:ea typeface="+mn-ea"/>
                          <a:cs typeface="+mn-cs"/>
                          <a:sym typeface="Arial"/>
                        </a:rPr>
                        <a:t>0.8780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0.6429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0.7423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56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89744611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Fear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0.6202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0.5202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0.5658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496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63932245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Happy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i="0" u="none" strike="noStrike" cap="none" spc="0">
                          <a:ln w="0"/>
                          <a:solidFill>
                            <a:srgbClr val="FFC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/>
                          <a:ea typeface="+mn-ea"/>
                          <a:cs typeface="+mn-cs"/>
                          <a:sym typeface="Arial"/>
                        </a:rPr>
                        <a:t>0.8588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i="0" u="none" strike="noStrike" cap="none" spc="0">
                          <a:ln w="0"/>
                          <a:solidFill>
                            <a:srgbClr val="FFC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/>
                          <a:ea typeface="+mn-ea"/>
                          <a:cs typeface="+mn-cs"/>
                          <a:sym typeface="Arial"/>
                        </a:rPr>
                        <a:t>0.9106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i="0" u="none" strike="noStrike" cap="none" spc="0">
                          <a:ln w="0"/>
                          <a:solidFill>
                            <a:srgbClr val="FFC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/>
                          <a:ea typeface="+mn-ea"/>
                          <a:cs typeface="+mn-cs"/>
                          <a:sym typeface="Arial"/>
                        </a:rPr>
                        <a:t>0.8839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895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6222532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Sad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0.6063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0.5896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0.5978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653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9475893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Surprise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i="0" u="none" strike="noStrike" cap="none" spc="0">
                          <a:ln w="0"/>
                          <a:solidFill>
                            <a:srgbClr val="FFC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/>
                          <a:ea typeface="+mn-ea"/>
                          <a:cs typeface="+mn-cs"/>
                          <a:sym typeface="Arial"/>
                        </a:rPr>
                        <a:t>0.8163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i="0" u="none" strike="noStrike" cap="none" spc="0">
                          <a:ln w="0"/>
                          <a:solidFill>
                            <a:srgbClr val="FFC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/>
                          <a:ea typeface="+mn-ea"/>
                          <a:cs typeface="+mn-cs"/>
                          <a:sym typeface="Arial"/>
                        </a:rPr>
                        <a:t>0.8458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i="0" u="none" strike="noStrike" cap="none" spc="0">
                          <a:ln w="0"/>
                          <a:solidFill>
                            <a:srgbClr val="FFC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/>
                          <a:ea typeface="+mn-ea"/>
                          <a:cs typeface="+mn-cs"/>
                          <a:sym typeface="Arial"/>
                        </a:rPr>
                        <a:t>0.8308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415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687811687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Neutral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0.6172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0.6639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0.6397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607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54734138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Accuracy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missioner" panose="020B06040202020202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missioner" panose="020B06040202020202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i="0" u="none" strike="noStrike" cap="none" spc="0">
                          <a:ln w="0"/>
                          <a:solidFill>
                            <a:srgbClr val="FFC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mmissioner"/>
                          <a:ea typeface="+mn-ea"/>
                          <a:cs typeface="+mn-cs"/>
                          <a:sym typeface="Arial"/>
                        </a:rPr>
                        <a:t>0.7072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3589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7674004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Macro Avg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0.7172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0.6848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0.6975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3589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18722687"/>
                  </a:ext>
                </a:extLst>
              </a:tr>
              <a:tr h="342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Weighted Avg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0.7038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0.7072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0.7042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missioner" panose="020B0604020202020204" charset="0"/>
                        </a:rPr>
                        <a:t>3589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3639590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559BB9-436A-48C6-9DF7-0A1C6CE3E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190" y="1183989"/>
            <a:ext cx="3883568" cy="327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933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0EAA-E596-67DB-2A97-4F31E6BB8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40437-BF48-7B05-9BD9-52DF9710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Analysis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38F255-CDF1-DC92-BC16-1A6C30D48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6375" y="963925"/>
            <a:ext cx="7711200" cy="3207118"/>
          </a:xfrm>
        </p:spPr>
        <p:txBody>
          <a:bodyPr/>
          <a:lstStyle/>
          <a:p>
            <a:pPr marL="139700" indent="0">
              <a:lnSpc>
                <a:spcPct val="150000"/>
              </a:lnSpc>
              <a:buNone/>
            </a:pPr>
            <a:r>
              <a:rPr lang="en-US" sz="1800" b="1"/>
              <a:t>Comparison:</a:t>
            </a:r>
          </a:p>
          <a:p>
            <a:pPr>
              <a:lnSpc>
                <a:spcPct val="150000"/>
              </a:lnSpc>
            </a:pPr>
            <a:r>
              <a:rPr lang="en-US" sz="1600"/>
              <a:t>ResNet18 outperformed the Custom CNN in Accuracy, Macro F1, and Weighted F1</a:t>
            </a:r>
          </a:p>
          <a:p>
            <a:pPr>
              <a:lnSpc>
                <a:spcPct val="150000"/>
              </a:lnSpc>
            </a:pPr>
            <a:r>
              <a:rPr lang="en-US" sz="1600"/>
              <a:t>Transfer learning provided better generalization, specifically helping with the class imbalance issue</a:t>
            </a:r>
          </a:p>
          <a:p>
            <a:pPr marL="139700" indent="0">
              <a:lnSpc>
                <a:spcPct val="150000"/>
              </a:lnSpc>
              <a:buNone/>
            </a:pPr>
            <a:r>
              <a:rPr lang="en-US" sz="1800" b="1"/>
              <a:t>Error Analysis:</a:t>
            </a:r>
            <a:endParaRPr lang="en-US" sz="1800"/>
          </a:p>
          <a:p>
            <a:pPr>
              <a:lnSpc>
                <a:spcPct val="150000"/>
              </a:lnSpc>
            </a:pPr>
            <a:r>
              <a:rPr lang="en-US" sz="1600"/>
              <a:t>Both models struggle to distinguish between "Fear" and "Sad," often confusing them with "Neutral" or "Angry“</a:t>
            </a:r>
          </a:p>
          <a:p>
            <a:pPr>
              <a:lnSpc>
                <a:spcPct val="150000"/>
              </a:lnSpc>
            </a:pPr>
            <a:r>
              <a:rPr lang="en-US" sz="1600"/>
              <a:t>However, ResNet18 reduced these misclassifications compared to the custom model</a:t>
            </a:r>
          </a:p>
        </p:txBody>
      </p:sp>
    </p:spTree>
    <p:extLst>
      <p:ext uri="{BB962C8B-B14F-4D97-AF65-F5344CB8AC3E}">
        <p14:creationId xmlns:p14="http://schemas.microsoft.com/office/powerpoint/2010/main" val="4237646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3C364AB0-7D46-87D2-20D6-5A56360F0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>
            <a:extLst>
              <a:ext uri="{FF2B5EF4-FFF2-40B4-BE49-F238E27FC236}">
                <a16:creationId xmlns:a16="http://schemas.microsoft.com/office/drawing/2014/main" id="{BE609A72-542B-344F-03C1-575DDC140B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3762" y="2416900"/>
            <a:ext cx="4227099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74" name="Google Shape;274;p36">
            <a:extLst>
              <a:ext uri="{FF2B5EF4-FFF2-40B4-BE49-F238E27FC236}">
                <a16:creationId xmlns:a16="http://schemas.microsoft.com/office/drawing/2014/main" id="{4C3AA360-7131-2C30-C0F3-8147BAF9B68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93762" y="854000"/>
            <a:ext cx="821747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276" name="Google Shape;276;p36">
            <a:extLst>
              <a:ext uri="{FF2B5EF4-FFF2-40B4-BE49-F238E27FC236}">
                <a16:creationId xmlns:a16="http://schemas.microsoft.com/office/drawing/2014/main" id="{D1D22A2E-A0C6-3727-D398-352CBEB6ACB5}"/>
              </a:ext>
            </a:extLst>
          </p:cNvPr>
          <p:cNvCxnSpPr>
            <a:cxnSpLocks/>
          </p:cNvCxnSpPr>
          <p:nvPr/>
        </p:nvCxnSpPr>
        <p:spPr>
          <a:xfrm>
            <a:off x="1185749" y="3258696"/>
            <a:ext cx="3890748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chemeClr val="lt2">
                <a:alpha val="50000"/>
              </a:schemeClr>
            </a:outerShdw>
          </a:effectLst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30153CA8-5E14-9034-9619-DA53488425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10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A5443-059B-2787-F6DA-A475B1018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34A8A-EE81-4AA7-F67D-5A40BEC79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375" y="1383337"/>
            <a:ext cx="7178341" cy="2376825"/>
          </a:xfrm>
        </p:spPr>
        <p:txBody>
          <a:bodyPr/>
          <a:lstStyle/>
          <a:p>
            <a:pPr marL="139700" indent="0">
              <a:lnSpc>
                <a:spcPct val="150000"/>
              </a:lnSpc>
              <a:buNone/>
            </a:pPr>
            <a:r>
              <a:rPr lang="en-US" sz="1600" b="1"/>
              <a:t>Summary: </a:t>
            </a:r>
          </a:p>
          <a:p>
            <a:pPr marL="425450" indent="-285750">
              <a:lnSpc>
                <a:spcPct val="150000"/>
              </a:lnSpc>
            </a:pPr>
            <a:r>
              <a:rPr lang="en-US" sz="1600"/>
              <a:t>Transfer Learning (ResNet18) is more effective than training from scratch for FER-2013</a:t>
            </a:r>
          </a:p>
          <a:p>
            <a:pPr lvl="1">
              <a:lnSpc>
                <a:spcPct val="150000"/>
              </a:lnSpc>
            </a:pPr>
            <a:r>
              <a:rPr lang="en-US" sz="1600"/>
              <a:t>Leveraging pre-trained features compensates for limited data and low resolution, providing robust performance even on minority classes</a:t>
            </a:r>
          </a:p>
          <a:p>
            <a:pPr marL="139700" indent="0">
              <a:lnSpc>
                <a:spcPct val="150000"/>
              </a:lnSpc>
              <a:buNone/>
            </a:pPr>
            <a:r>
              <a:rPr lang="en-US" sz="1600" b="1"/>
              <a:t>Recommendation: </a:t>
            </a:r>
            <a:r>
              <a:rPr lang="en-US" sz="1600"/>
              <a:t>For practical applications with limited/imbalanced data, ResNet18 is the superior choice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770391-D58A-6ED3-B338-D8B56A2E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Conclusion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38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D697-94AF-DD20-0885-80828B072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1BEB2-7E35-175E-CB3F-8EF7D8303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838" y="1135971"/>
            <a:ext cx="7852197" cy="2897146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sz="1600"/>
              <a:t>[1] Than Quang </a:t>
            </a:r>
            <a:r>
              <a:rPr lang="en-US" sz="1600" err="1"/>
              <a:t>Khoat</a:t>
            </a:r>
            <a:r>
              <a:rPr lang="en-US" sz="1600"/>
              <a:t>. IT3320E - Deep Learning Lecture Slides. Hanoi University of Science and Technology, 2025.</a:t>
            </a:r>
            <a:endParaRPr lang="en-US"/>
          </a:p>
          <a:p>
            <a:pPr>
              <a:lnSpc>
                <a:spcPct val="150000"/>
              </a:lnSpc>
              <a:buNone/>
            </a:pPr>
            <a:r>
              <a:rPr lang="en-US" sz="1600"/>
              <a:t>[2] M. Sambare. FER2013: Facial Expression Recognition 2013 Dataset. </a:t>
            </a:r>
            <a:r>
              <a:rPr lang="en-US" sz="1600">
                <a:hlinkClick r:id="rId2"/>
              </a:rPr>
              <a:t>https://www.kaggle.com/</a:t>
            </a:r>
            <a:r>
              <a:rPr lang="en-US" sz="1600"/>
              <a:t>datasets/msambare/fer2013. 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/>
              <a:t>[3] </a:t>
            </a:r>
            <a:r>
              <a:rPr lang="en-US" sz="1600" err="1"/>
              <a:t>PyTorch</a:t>
            </a:r>
            <a:r>
              <a:rPr lang="en-US" sz="1600"/>
              <a:t>: An Open-Source Deep Learning Framework. </a:t>
            </a:r>
            <a:r>
              <a:rPr lang="en-US" sz="1600">
                <a:hlinkClick r:id="rId3"/>
              </a:rPr>
              <a:t>https://pytorch.org/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/>
              <a:t>[4] </a:t>
            </a:r>
            <a:r>
              <a:rPr lang="en-US" sz="1600" err="1"/>
              <a:t>GeeksforGeeks</a:t>
            </a:r>
            <a:r>
              <a:rPr lang="en-US" sz="1600"/>
              <a:t>. Deep Learning Tutorial. </a:t>
            </a:r>
            <a:r>
              <a:rPr lang="en-US" sz="1600">
                <a:hlinkClick r:id="rId4"/>
              </a:rPr>
              <a:t>https://www.geeksforgeeks.org/deep-learning/</a:t>
            </a:r>
            <a:r>
              <a:rPr lang="en-US" sz="1600"/>
              <a:t>deep-learning-tutorial/, 2025.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22A32-3B5A-0E41-E10E-FE9EA39BB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4999"/>
              </a:lnSpc>
            </a:pPr>
            <a:r>
              <a:rPr lang="en-US" b="1"/>
              <a:t>References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417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5D480-8896-5E79-A9AF-D164D2C0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251525"/>
            <a:ext cx="5486400" cy="1859400"/>
          </a:xfrm>
        </p:spPr>
        <p:txBody>
          <a:bodyPr/>
          <a:lstStyle/>
          <a:p>
            <a:r>
              <a:rPr lang="en-US"/>
              <a:t>Thank you for listening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6CE39F-8A6C-62DE-D1AB-054C6E86D342}"/>
              </a:ext>
            </a:extLst>
          </p:cNvPr>
          <p:cNvSpPr txBox="1"/>
          <p:nvPr/>
        </p:nvSpPr>
        <p:spPr>
          <a:xfrm>
            <a:off x="2890289" y="3238500"/>
            <a:ext cx="3363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ommissioner" panose="020B0604020202020204" charset="0"/>
              </a:rPr>
              <a:t>Do you have 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162085833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Wave Style Thesis Defense by Slidesgo">
  <a:themeElements>
    <a:clrScheme name="Simple Light">
      <a:dk1>
        <a:srgbClr val="FFFFFF"/>
      </a:dk1>
      <a:lt1>
        <a:srgbClr val="011C38"/>
      </a:lt1>
      <a:dk2>
        <a:srgbClr val="30476B"/>
      </a:dk2>
      <a:lt2>
        <a:srgbClr val="90E1F1"/>
      </a:lt2>
      <a:accent1>
        <a:srgbClr val="44728B"/>
      </a:accent1>
      <a:accent2>
        <a:srgbClr val="C9A752"/>
      </a:accent2>
      <a:accent3>
        <a:srgbClr val="E3D477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FFFFFF"/>
    </a:dk1>
    <a:lt1>
      <a:srgbClr val="011C38"/>
    </a:lt1>
    <a:dk2>
      <a:srgbClr val="30476B"/>
    </a:dk2>
    <a:lt2>
      <a:srgbClr val="90E1F1"/>
    </a:lt2>
    <a:accent1>
      <a:srgbClr val="44728B"/>
    </a:accent1>
    <a:accent2>
      <a:srgbClr val="C9A752"/>
    </a:accent2>
    <a:accent3>
      <a:srgbClr val="E3D477"/>
    </a:accent3>
    <a:accent4>
      <a:srgbClr val="FFFFFF"/>
    </a:accent4>
    <a:accent5>
      <a:srgbClr val="FFFFFF"/>
    </a:accent5>
    <a:accent6>
      <a:srgbClr val="FFFFFF"/>
    </a:accent6>
    <a:hlink>
      <a:srgbClr val="FFFFFF"/>
    </a:hlink>
    <a:folHlink>
      <a:srgbClr val="0097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75319bb-6edc-40ae-a8a9-28adcf06fba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14991816B2FA4A94D7FC0BF0811C1F" ma:contentTypeVersion="14" ma:contentTypeDescription="Create a new document." ma:contentTypeScope="" ma:versionID="03814094eccb5fb036f78b1d74c21eb2">
  <xsd:schema xmlns:xsd="http://www.w3.org/2001/XMLSchema" xmlns:xs="http://www.w3.org/2001/XMLSchema" xmlns:p="http://schemas.microsoft.com/office/2006/metadata/properties" xmlns:ns3="f75319bb-6edc-40ae-a8a9-28adcf06fbad" xmlns:ns4="4c92ac42-0a88-4dbb-8336-5e4697955881" targetNamespace="http://schemas.microsoft.com/office/2006/metadata/properties" ma:root="true" ma:fieldsID="056e7009cfbbc6ad4e797ac0bd202d0c" ns3:_="" ns4:_="">
    <xsd:import namespace="f75319bb-6edc-40ae-a8a9-28adcf06fbad"/>
    <xsd:import namespace="4c92ac42-0a88-4dbb-8336-5e4697955881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5319bb-6edc-40ae-a8a9-28adcf06fbad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92ac42-0a88-4dbb-8336-5e4697955881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14859E4-895C-4310-AA6A-659E768DCD79}">
  <ds:schemaRefs>
    <ds:schemaRef ds:uri="4c92ac42-0a88-4dbb-8336-5e4697955881"/>
    <ds:schemaRef ds:uri="f75319bb-6edc-40ae-a8a9-28adcf06fba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643BE5A-D059-4880-8ED3-B5A6067407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45EF2E-17CB-4060-A68B-69FB02D1B77F}">
  <ds:schemaRefs>
    <ds:schemaRef ds:uri="4c92ac42-0a88-4dbb-8336-5e4697955881"/>
    <ds:schemaRef ds:uri="f75319bb-6edc-40ae-a8a9-28adcf06fb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22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Technology Wave Style Thesis Defense by Slidesgo</vt:lpstr>
      <vt:lpstr>Facial Emotion Detection</vt:lpstr>
      <vt:lpstr>Table of contents</vt:lpstr>
      <vt:lpstr>Introduction</vt:lpstr>
      <vt:lpstr>Problem statement</vt:lpstr>
      <vt:lpstr>Dataset: FER-2013</vt:lpstr>
      <vt:lpstr>Methodologies</vt:lpstr>
      <vt:lpstr>1. Custom CNN model  </vt:lpstr>
      <vt:lpstr>1. Custom CNN model  </vt:lpstr>
      <vt:lpstr>1. Custom CNN model </vt:lpstr>
      <vt:lpstr>1. Custom CNN model  </vt:lpstr>
      <vt:lpstr>2. Transfer Learning (ResNet18)</vt:lpstr>
      <vt:lpstr>PowerPoint Presentation</vt:lpstr>
      <vt:lpstr>PowerPoint Presentation</vt:lpstr>
      <vt:lpstr>PowerPoint Presentation</vt:lpstr>
      <vt:lpstr>Results</vt:lpstr>
      <vt:lpstr>Group’s CNN Model’s result  </vt:lpstr>
      <vt:lpstr>ResNet18’s result  </vt:lpstr>
      <vt:lpstr>Analysis</vt:lpstr>
      <vt:lpstr>Conclusion</vt:lpstr>
      <vt:lpstr>Conclusion</vt:lpstr>
      <vt:lpstr>References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4</cp:revision>
  <dcterms:modified xsi:type="dcterms:W3CDTF">2025-12-26T09:15:02Z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0x0101003F14991816B2FA4A94D7FC0BF0811C1F</vt:lpwstr>
  </property>
</Properties>
</file>